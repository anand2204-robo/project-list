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0" r:id="rId5"/>
    <p:sldId id="261" r:id="rId6"/>
    <p:sldId id="267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 horzBarState="maximized">
    <p:restoredLeft sz="34587" autoAdjust="0"/>
    <p:restoredTop sz="94610" autoAdjust="0"/>
  </p:normalViewPr>
  <p:slideViewPr>
    <p:cSldViewPr snapToGrid="0" snapToObjects="1" showGuides="1">
      <p:cViewPr varScale="1">
        <p:scale>
          <a:sx n="154" d="100"/>
          <a:sy n="154" d="100"/>
        </p:scale>
        <p:origin x="-432" y="-90"/>
      </p:cViewPr>
      <p:guideLst>
        <p:guide orient="horz" pos="157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132320" y="228600"/>
            <a:ext cx="173736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2860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LGB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132320" y="822960"/>
            <a:ext cx="1737360" cy="411480"/>
          </a:xfrm>
          <a:prstGeom prst="rect">
            <a:avLst/>
          </a:prstGeom>
          <a:solidFill>
            <a:srgbClr val="880000"/>
          </a:solidFill>
          <a:ln w="12700">
            <a:solidFill>
              <a:srgbClr val="88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82296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ROLON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6400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500" dirty="0">
                <a:solidFill>
                  <a:srgbClr val="80C080"/>
                </a:solidFill>
              </a:rPr>
              <a:t>REQUEST FOR QUOTATION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6400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[</a:t>
            </a:r>
            <a:r>
              <a:rPr lang="en-IN" altLang="en-US" sz="3800" b="1" dirty="0">
                <a:solidFill>
                  <a:srgbClr val="FFFFFF"/>
                </a:solidFill>
              </a:rPr>
              <a:t>GPDN</a:t>
            </a:r>
            <a:r>
              <a:rPr lang="en-US" sz="3800" b="1" dirty="0">
                <a:solidFill>
                  <a:srgbClr val="FFFFFF"/>
                </a:solidFill>
              </a:rPr>
              <a:t> Line]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502920" y="2514600"/>
            <a:ext cx="502920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5176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5D6A7"/>
                </a:solidFill>
              </a:rPr>
              <a:t>[</a:t>
            </a:r>
            <a:r>
              <a:rPr lang="en-IN" altLang="en-US" sz="1800" i="1" dirty="0">
                <a:solidFill>
                  <a:srgbClr val="A5D6A7"/>
                </a:solidFill>
              </a:rPr>
              <a:t>Vallam</a:t>
            </a:r>
            <a:r>
              <a:rPr lang="en-US" sz="1800" i="1" dirty="0">
                <a:solidFill>
                  <a:srgbClr val="A5D6A7"/>
                </a:solidFill>
              </a:rPr>
              <a:t> Plant 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1828800" cy="658368"/>
          </a:xfrm>
          <a:prstGeom prst="rect">
            <a:avLst/>
          </a:prstGeom>
          <a:solidFill>
            <a:srgbClr val="0D3B0D"/>
          </a:solidFill>
          <a:ln w="12700">
            <a:solidFill>
              <a:srgbClr val="1A6B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0156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CC88"/>
                </a:solidFill>
              </a:rPr>
              <a:t>Revision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363931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Rev00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0" y="3383280"/>
            <a:ext cx="1828800" cy="658368"/>
          </a:xfrm>
          <a:prstGeom prst="rect">
            <a:avLst/>
          </a:prstGeom>
          <a:solidFill>
            <a:srgbClr val="0D3B0D"/>
          </a:solidFill>
          <a:ln w="12700">
            <a:solidFill>
              <a:srgbClr val="1A6B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340156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CC88"/>
                </a:solidFill>
              </a:rPr>
              <a:t>Date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60320" y="363931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07.05.2026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383280"/>
            <a:ext cx="1828800" cy="658368"/>
          </a:xfrm>
          <a:prstGeom prst="rect">
            <a:avLst/>
          </a:prstGeom>
          <a:solidFill>
            <a:srgbClr val="0D3B0D"/>
          </a:solidFill>
          <a:ln w="12700">
            <a:solidFill>
              <a:srgbClr val="1A6B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40156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CC88"/>
                </a:solidFill>
              </a:rPr>
              <a:t>Prepared by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17720" y="363931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[Anandakumar R]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3383280"/>
            <a:ext cx="1828800" cy="658368"/>
          </a:xfrm>
          <a:prstGeom prst="rect">
            <a:avLst/>
          </a:prstGeom>
          <a:solidFill>
            <a:srgbClr val="0D3B0D"/>
          </a:solidFill>
          <a:ln w="12700">
            <a:solidFill>
              <a:srgbClr val="1A6B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340156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CC88"/>
                </a:solidFill>
              </a:rPr>
              <a:t>Approved by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75120" y="363931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[Sujith M]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Current Machine Layout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900" y="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138160" y="91440"/>
            <a:ext cx="777240" cy="43891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0" y="91440"/>
            <a:ext cx="777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LGB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566160" y="676910"/>
            <a:ext cx="5394960" cy="41148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566160" y="676910"/>
            <a:ext cx="539496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66160" y="676910"/>
            <a:ext cx="5394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LAYOUT NOTES &amp; PART SUMMARY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566160" y="1024382"/>
            <a:ext cx="914400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66160" y="102438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Part No.</a:t>
            </a:r>
            <a:endParaRPr lang="en-US" sz="1200" b="1" dirty="0">
              <a:solidFill>
                <a:srgbClr val="FFFFFF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480560" y="1024382"/>
            <a:ext cx="1005840" cy="274320"/>
          </a:xfrm>
          <a:prstGeom prst="rect">
            <a:avLst/>
          </a:prstGeom>
          <a:solidFill>
            <a:srgbClr val="2C6E49"/>
          </a:solidFill>
        </p:spPr>
      </p:sp>
      <p:sp>
        <p:nvSpPr>
          <p:cNvPr id="51" name="Text 49"/>
          <p:cNvSpPr/>
          <p:nvPr/>
        </p:nvSpPr>
        <p:spPr>
          <a:xfrm>
            <a:off x="4480560" y="1024382"/>
            <a:ext cx="1005840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Monthly Qty</a:t>
            </a:r>
            <a:endParaRPr lang="en-US" sz="1200" b="1" dirty="0">
              <a:solidFill>
                <a:srgbClr val="FFFFFF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486400" y="1024382"/>
            <a:ext cx="914400" cy="274320"/>
          </a:xfrm>
          <a:prstGeom prst="rect">
            <a:avLst/>
          </a:prstGeom>
          <a:solidFill>
            <a:srgbClr val="2C6E49"/>
          </a:solidFill>
        </p:spPr>
      </p:sp>
      <p:sp>
        <p:nvSpPr>
          <p:cNvPr id="9" name="Text 51"/>
          <p:cNvSpPr/>
          <p:nvPr/>
        </p:nvSpPr>
        <p:spPr>
          <a:xfrm>
            <a:off x="5486400" y="1024382"/>
            <a:ext cx="914400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OP10 </a:t>
            </a:r>
            <a:endParaRPr lang="en-US" sz="1200" b="1" dirty="0">
              <a:solidFill>
                <a:srgbClr val="FFFFFF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400800" y="1024382"/>
            <a:ext cx="914400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0" y="102438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OP20 </a:t>
            </a:r>
            <a:endParaRPr lang="en-US" sz="1200" b="1" dirty="0">
              <a:solidFill>
                <a:srgbClr val="FFFFFF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7315200" y="1024382"/>
            <a:ext cx="731520" cy="274320"/>
          </a:xfrm>
          <a:prstGeom prst="rect">
            <a:avLst/>
          </a:prstGeom>
          <a:solidFill>
            <a:srgbClr val="2C6E49"/>
          </a:solidFill>
        </p:spPr>
      </p:sp>
      <p:sp>
        <p:nvSpPr>
          <p:cNvPr id="57" name="Text 55"/>
          <p:cNvSpPr/>
          <p:nvPr/>
        </p:nvSpPr>
        <p:spPr>
          <a:xfrm>
            <a:off x="7315200" y="1024382"/>
            <a:ext cx="731520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Weight</a:t>
            </a:r>
            <a:endParaRPr lang="en-US" sz="1200" b="1" dirty="0">
              <a:solidFill>
                <a:srgbClr val="FFFFFF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3566160" y="1298702"/>
            <a:ext cx="914400" cy="274320"/>
          </a:xfrm>
          <a:prstGeom prst="rect">
            <a:avLst/>
          </a:prstGeom>
          <a:solidFill>
            <a:srgbClr val="F0F4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66160" y="129870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43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1564B</a:t>
            </a:r>
            <a:endParaRPr lang="en-US" sz="1200" dirty="0">
              <a:solidFill>
                <a:srgbClr val="2D3436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480560" y="1298702"/>
            <a:ext cx="1005840" cy="274320"/>
          </a:xfrm>
          <a:prstGeom prst="rect">
            <a:avLst/>
          </a:prstGeom>
          <a:solidFill>
            <a:srgbClr val="F0F4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80560" y="129870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43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13,000</a:t>
            </a:r>
            <a:endParaRPr lang="en-US" sz="1200" dirty="0">
              <a:solidFill>
                <a:srgbClr val="2D3436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5486400" y="1298702"/>
            <a:ext cx="914400" cy="274320"/>
          </a:xfrm>
          <a:prstGeom prst="rect">
            <a:avLst/>
          </a:prstGeom>
          <a:solidFill>
            <a:srgbClr val="F0F4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0" y="129870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43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119 sec</a:t>
            </a:r>
            <a:endParaRPr lang="en-US" sz="1200" dirty="0">
              <a:solidFill>
                <a:srgbClr val="2D3436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6400800" y="1298702"/>
            <a:ext cx="914400" cy="274320"/>
          </a:xfrm>
          <a:prstGeom prst="rect">
            <a:avLst/>
          </a:prstGeom>
          <a:solidFill>
            <a:srgbClr val="F0F4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0" y="129870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43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100 sec</a:t>
            </a:r>
            <a:endParaRPr lang="en-US" sz="1200" dirty="0">
              <a:solidFill>
                <a:srgbClr val="2D3436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7315200" y="1298702"/>
            <a:ext cx="731520" cy="274320"/>
          </a:xfrm>
          <a:prstGeom prst="rect">
            <a:avLst/>
          </a:prstGeom>
          <a:solidFill>
            <a:srgbClr val="F0F4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15200" y="129870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43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 kg</a:t>
            </a:r>
            <a:endParaRPr lang="en-US" sz="1200" dirty="0">
              <a:solidFill>
                <a:srgbClr val="2D3436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3566160" y="159131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66160" y="159131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43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1563</a:t>
            </a:r>
            <a:endParaRPr lang="en-US" sz="1200" dirty="0">
              <a:solidFill>
                <a:srgbClr val="2D3436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4480560" y="1591310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80560" y="159131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43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13,000</a:t>
            </a:r>
            <a:endParaRPr lang="en-US" sz="1200" dirty="0">
              <a:solidFill>
                <a:srgbClr val="2D3436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5486400" y="159131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86400" y="159131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43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44 sec</a:t>
            </a:r>
            <a:endParaRPr lang="en-US" sz="1200" dirty="0">
              <a:solidFill>
                <a:srgbClr val="2D3436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6400800" y="159131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00800" y="159131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43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105 sec</a:t>
            </a:r>
            <a:endParaRPr lang="en-US" sz="1200" dirty="0">
              <a:solidFill>
                <a:srgbClr val="2D3436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7315200" y="1591310"/>
            <a:ext cx="7315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315200" y="159131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43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 kg</a:t>
            </a:r>
            <a:endParaRPr lang="en-US" sz="1200" dirty="0">
              <a:solidFill>
                <a:srgbClr val="2D3436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3657600" y="2505710"/>
            <a:ext cx="5212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Key Notes:</a:t>
            </a:r>
            <a:endParaRPr lang="en-US" sz="1500" b="1" dirty="0">
              <a:solidFill>
                <a:srgbClr val="1A3C2B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3657600" y="2780030"/>
            <a:ext cx="5212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343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Total CNC machines: </a:t>
            </a:r>
            <a:r>
              <a:rPr lang="en-IN" altLang="en-US" sz="1500" dirty="0">
                <a:solidFill>
                  <a:srgbClr val="2D343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r>
              <a:rPr lang="en-US" sz="1500" dirty="0">
                <a:solidFill>
                  <a:srgbClr val="2D343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500" dirty="0"/>
          </a:p>
        </p:txBody>
      </p:sp>
      <p:sp>
        <p:nvSpPr>
          <p:cNvPr id="100" name="Text 98"/>
          <p:cNvSpPr/>
          <p:nvPr/>
        </p:nvSpPr>
        <p:spPr>
          <a:xfrm>
            <a:off x="3657600" y="2981198"/>
            <a:ext cx="5212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343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Components: </a:t>
            </a:r>
            <a:endParaRPr lang="en-US" sz="1500" dirty="0">
              <a:solidFill>
                <a:srgbClr val="2D3436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3657600" y="3161792"/>
            <a:ext cx="5212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343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Layout can be modified per vendor proposal</a:t>
            </a:r>
            <a:endParaRPr lang="en-US" sz="1500" dirty="0">
              <a:solidFill>
                <a:srgbClr val="2D3436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rcRect b="56436"/>
          <a:stretch>
            <a:fillRect/>
          </a:stretch>
        </p:blipFill>
        <p:spPr>
          <a:xfrm>
            <a:off x="255270" y="1296035"/>
            <a:ext cx="2892425" cy="2698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Details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138160" y="91440"/>
            <a:ext cx="777240" cy="43891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0" y="91440"/>
            <a:ext cx="777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LGB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28090" y="868045"/>
            <a:ext cx="2213610" cy="2364105"/>
          </a:xfrm>
          <a:prstGeom prst="rect">
            <a:avLst/>
          </a:prstGeom>
          <a:solidFill>
            <a:srgbClr val="F1F8F1"/>
          </a:solidFill>
          <a:ln w="12700">
            <a:solidFill>
              <a:srgbClr val="99CC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8090" y="3258820"/>
            <a:ext cx="2206625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55555"/>
                </a:solidFill>
              </a:rPr>
              <a:t>MACHINE LAYOUT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61255" y="952500"/>
            <a:ext cx="2878455" cy="2011680"/>
          </a:xfrm>
          <a:prstGeom prst="rect">
            <a:avLst/>
          </a:prstGeom>
          <a:solidFill>
            <a:srgbClr val="F1F8F1"/>
          </a:solidFill>
          <a:ln w="12700">
            <a:solidFill>
              <a:srgbClr val="99CC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1255" y="952500"/>
            <a:ext cx="28752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AA"/>
                </a:solidFill>
              </a:rPr>
              <a:t>[ INSERT COMPONENT IMAGE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61255" y="3040253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55555"/>
                </a:solidFill>
              </a:rPr>
              <a:t>COMPONENT IMAGE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624453"/>
            <a:ext cx="1828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8840" y="3624453"/>
            <a:ext cx="2468880" cy="347472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624453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Part No.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48840" y="3624453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/>
              <a:t>1218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09160" y="3624453"/>
            <a:ext cx="1828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3624453"/>
            <a:ext cx="2468880" cy="347472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624453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Total No.of M/C in OP20 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37960" y="3624453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800" dirty="0"/>
              <a:t>1</a:t>
            </a:r>
            <a:endParaRPr lang="en-IN" alt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971925"/>
            <a:ext cx="1828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48840" y="3971925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971925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OP 10 CNC Model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48840" y="3971925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</a:rPr>
              <a:t>Fanuc Series Oi-TF Plus(LMW)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09160" y="3971925"/>
            <a:ext cx="1828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37960" y="3971925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971925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OP 20 CNC Model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37960" y="3971925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</a:rPr>
              <a:t>Fanuc Series Oi-TF Plus(LMW)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4319397"/>
            <a:ext cx="1828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48840" y="4319397"/>
            <a:ext cx="2468880" cy="347472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319397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Cycle Time OP 10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148840" y="4319397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</a:rPr>
              <a:t>[</a:t>
            </a:r>
            <a:r>
              <a:rPr lang="en-IN" altLang="en-US" sz="800" dirty="0">
                <a:solidFill>
                  <a:srgbClr val="2D2D2D"/>
                </a:solidFill>
              </a:rPr>
              <a:t>83</a:t>
            </a:r>
            <a:r>
              <a:rPr lang="en-US" sz="800" dirty="0">
                <a:solidFill>
                  <a:srgbClr val="2D2D2D"/>
                </a:solidFill>
              </a:rPr>
              <a:t> sec]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9160" y="4319397"/>
            <a:ext cx="1828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37960" y="4319397"/>
            <a:ext cx="2468880" cy="347472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4319397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Cycle Time OP 20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537960" y="4319397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</a:rPr>
              <a:t>[</a:t>
            </a:r>
            <a:r>
              <a:rPr lang="en-IN" altLang="en-US" sz="800" dirty="0">
                <a:solidFill>
                  <a:srgbClr val="2D2D2D"/>
                </a:solidFill>
              </a:rPr>
              <a:t>83</a:t>
            </a:r>
            <a:r>
              <a:rPr lang="en-US" sz="800" dirty="0">
                <a:solidFill>
                  <a:srgbClr val="2D2D2D"/>
                </a:solidFill>
              </a:rPr>
              <a:t> sec]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0040" y="4666869"/>
            <a:ext cx="1828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48840" y="4666869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666869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</a:rPr>
              <a:t>Total No.of M/C </a:t>
            </a:r>
            <a:r>
              <a:rPr lang="en-US" sz="800" b="1" dirty="0">
                <a:solidFill>
                  <a:srgbClr val="FFFFFF"/>
                </a:solidFill>
              </a:rPr>
              <a:t>in </a:t>
            </a:r>
            <a:r>
              <a:rPr lang="en-US" sz="800" b="1" dirty="0">
                <a:solidFill>
                  <a:schemeClr val="bg1"/>
                </a:solidFill>
              </a:rPr>
              <a:t>OP10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2148840" y="4666869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800" dirty="0"/>
              <a:t>1</a:t>
            </a:r>
            <a:endParaRPr lang="en-IN" alt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09160" y="4666869"/>
            <a:ext cx="1828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37960" y="4666869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4666869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Weight (approx.)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537960" y="4666869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</a:rPr>
              <a:t>[1 kg]</a:t>
            </a:r>
            <a:endParaRPr lang="en-US" sz="800" dirty="0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1"/>
          <a:srcRect b="58090"/>
          <a:stretch>
            <a:fillRect/>
          </a:stretch>
        </p:blipFill>
        <p:spPr>
          <a:xfrm>
            <a:off x="1228725" y="885190"/>
            <a:ext cx="2197735" cy="234696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1228725" y="1086485"/>
            <a:ext cx="1981835" cy="1101090"/>
          </a:xfrm>
          <a:prstGeom prst="round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3210560" y="1710690"/>
            <a:ext cx="1750695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Details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138160" y="91440"/>
            <a:ext cx="777240" cy="43891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0" y="91440"/>
            <a:ext cx="777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LGB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28090" y="868045"/>
            <a:ext cx="2213610" cy="2364105"/>
          </a:xfrm>
          <a:prstGeom prst="rect">
            <a:avLst/>
          </a:prstGeom>
          <a:solidFill>
            <a:srgbClr val="F1F8F1"/>
          </a:solidFill>
          <a:ln w="12700">
            <a:solidFill>
              <a:srgbClr val="99CC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8090" y="3258820"/>
            <a:ext cx="2206625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55555"/>
                </a:solidFill>
              </a:rPr>
              <a:t>MACHINE LAYOUT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61255" y="952500"/>
            <a:ext cx="2878455" cy="2011680"/>
          </a:xfrm>
          <a:prstGeom prst="rect">
            <a:avLst/>
          </a:prstGeom>
          <a:solidFill>
            <a:srgbClr val="F1F8F1"/>
          </a:solidFill>
          <a:ln w="12700">
            <a:solidFill>
              <a:srgbClr val="99CC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1255" y="952500"/>
            <a:ext cx="28752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AA"/>
                </a:solidFill>
              </a:rPr>
              <a:t>[ INSERT COMPONENT IMAGE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61255" y="3040253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55555"/>
                </a:solidFill>
              </a:rPr>
              <a:t>COMPONENT IMAGE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624453"/>
            <a:ext cx="1828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8840" y="3624453"/>
            <a:ext cx="2468880" cy="347472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624453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Part No.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48840" y="3624453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09160" y="3624453"/>
            <a:ext cx="1828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3624453"/>
            <a:ext cx="2468880" cy="347472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624453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Total No.of M/C in OP20 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37960" y="3624453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800" dirty="0"/>
              <a:t>1</a:t>
            </a:r>
            <a:endParaRPr lang="en-IN" alt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971925"/>
            <a:ext cx="1828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48840" y="3971925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971925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OP 10 CNC Model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48840" y="3971925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</a:rPr>
              <a:t>Fanuc Series Oi-TF Plus(LMW)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09160" y="3971925"/>
            <a:ext cx="1828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37960" y="3971925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971925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OP 20 CNC Model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37960" y="3971925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</a:rPr>
              <a:t>Fanuc Series Oi-TF Plus(LMW)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4319397"/>
            <a:ext cx="1828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48840" y="4319397"/>
            <a:ext cx="2468880" cy="347472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319397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Cycle Time OP 10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148840" y="4319397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</a:rPr>
              <a:t>[</a:t>
            </a:r>
            <a:r>
              <a:rPr lang="en-IN" altLang="en-US" sz="800" dirty="0">
                <a:solidFill>
                  <a:srgbClr val="2D2D2D"/>
                </a:solidFill>
              </a:rPr>
              <a:t>83</a:t>
            </a:r>
            <a:r>
              <a:rPr lang="en-US" sz="800" dirty="0">
                <a:solidFill>
                  <a:srgbClr val="2D2D2D"/>
                </a:solidFill>
              </a:rPr>
              <a:t> sec]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9160" y="4319397"/>
            <a:ext cx="1828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37960" y="4319397"/>
            <a:ext cx="2468880" cy="347472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4319397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Cycle Time OP 20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537960" y="4319397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</a:rPr>
              <a:t>[</a:t>
            </a:r>
            <a:r>
              <a:rPr lang="en-IN" altLang="en-US" sz="800" dirty="0">
                <a:solidFill>
                  <a:srgbClr val="2D2D2D"/>
                </a:solidFill>
              </a:rPr>
              <a:t>83</a:t>
            </a:r>
            <a:r>
              <a:rPr lang="en-US" sz="800" dirty="0">
                <a:solidFill>
                  <a:srgbClr val="2D2D2D"/>
                </a:solidFill>
              </a:rPr>
              <a:t> sec]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0040" y="4666869"/>
            <a:ext cx="1828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48840" y="4666869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666869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</a:rPr>
              <a:t>Total No.of M/C </a:t>
            </a:r>
            <a:r>
              <a:rPr lang="en-US" sz="800" b="1" dirty="0">
                <a:solidFill>
                  <a:srgbClr val="FFFFFF"/>
                </a:solidFill>
              </a:rPr>
              <a:t>in </a:t>
            </a:r>
            <a:r>
              <a:rPr lang="en-US" sz="800" b="1" dirty="0">
                <a:solidFill>
                  <a:schemeClr val="bg1"/>
                </a:solidFill>
              </a:rPr>
              <a:t>OP10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2148840" y="4666869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800" dirty="0"/>
              <a:t>1</a:t>
            </a:r>
            <a:endParaRPr lang="en-IN" alt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09160" y="4666869"/>
            <a:ext cx="1828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37960" y="4666869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4666869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Weight (approx.)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537960" y="4666869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</a:rPr>
              <a:t>[1 kg]</a:t>
            </a:r>
            <a:endParaRPr lang="en-US" sz="800" dirty="0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1"/>
          <a:srcRect b="58090"/>
          <a:stretch>
            <a:fillRect/>
          </a:stretch>
        </p:blipFill>
        <p:spPr>
          <a:xfrm>
            <a:off x="1228725" y="885190"/>
            <a:ext cx="2197735" cy="234696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1228725" y="2195195"/>
            <a:ext cx="1981835" cy="1016000"/>
          </a:xfrm>
          <a:prstGeom prst="round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3221355" y="2571750"/>
            <a:ext cx="1750695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Commercial Proposal Template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138160" y="91440"/>
            <a:ext cx="777240" cy="43891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0" y="91440"/>
            <a:ext cx="777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LGB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4592" y="868680"/>
            <a:ext cx="2926080" cy="201168"/>
          </a:xfrm>
          <a:prstGeom prst="rect">
            <a:avLst/>
          </a:prstGeom>
          <a:solidFill>
            <a:srgbClr val="1B5E2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" y="868680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Item / Parameter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090672" y="868680"/>
            <a:ext cx="2560320" cy="201168"/>
          </a:xfrm>
          <a:prstGeom prst="rect">
            <a:avLst/>
          </a:prstGeom>
          <a:solidFill>
            <a:srgbClr val="1B5E2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6392" y="86868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Vendor Fill Here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650992" y="868680"/>
            <a:ext cx="3337560" cy="201168"/>
          </a:xfrm>
          <a:prstGeom prst="rect">
            <a:avLst/>
          </a:prstGeom>
          <a:solidFill>
            <a:srgbClr val="1B5E2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96712" y="86868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Notes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64592" y="1069848"/>
            <a:ext cx="29260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" y="1069848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Robot Configuration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090672" y="1069848"/>
            <a:ext cx="25603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36392" y="1069848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650992" y="1069848"/>
            <a:ext cx="33375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96712" y="106984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64592" y="1271016"/>
            <a:ext cx="2926080" cy="20116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" y="1271016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PLC Program / Logics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090672" y="1271016"/>
            <a:ext cx="2560320" cy="20116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36392" y="1271016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₹ ___________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650992" y="1271016"/>
            <a:ext cx="3337560" cy="20116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96712" y="1271016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4592" y="1472184"/>
            <a:ext cx="29260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0312" y="1472184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Project Management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090672" y="1472184"/>
            <a:ext cx="25603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36392" y="1472184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₹ ___________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650992" y="1472184"/>
            <a:ext cx="33375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96712" y="1472184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64592" y="1673352"/>
            <a:ext cx="2926080" cy="20116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0312" y="1673352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Drawing &amp; Documentation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090672" y="1673352"/>
            <a:ext cx="2560320" cy="20116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36392" y="167335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₹ ___________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650992" y="1673352"/>
            <a:ext cx="3337560" cy="20116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96712" y="167335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64592" y="1874520"/>
            <a:ext cx="29260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0312" y="1874520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Gripper (Robots)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090672" y="1874520"/>
            <a:ext cx="25603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36392" y="187452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₹ ___________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650992" y="1874520"/>
            <a:ext cx="33375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96712" y="187452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64592" y="2075688"/>
            <a:ext cx="2926080" cy="20116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0312" y="2075688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Gripper (Packing)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090672" y="2075688"/>
            <a:ext cx="2560320" cy="20116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36392" y="2075688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₹ ___________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650992" y="2075688"/>
            <a:ext cx="3337560" cy="20116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96712" y="207568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64592" y="2276856"/>
            <a:ext cx="29260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0312" y="2276856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Pedestal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090672" y="2276856"/>
            <a:ext cx="25603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36392" y="2276856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₹ ___________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650992" y="2276856"/>
            <a:ext cx="33375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96712" y="2276856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64592" y="2478024"/>
            <a:ext cx="2926080" cy="20116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0312" y="2478024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Fencing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090672" y="2478024"/>
            <a:ext cx="2560320" cy="20116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36392" y="2478024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₹ ___________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650992" y="2478024"/>
            <a:ext cx="3337560" cy="20116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96712" y="2478024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64592" y="2679192"/>
            <a:ext cx="29260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10312" y="2679192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Conveyor / Movement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090672" y="2679192"/>
            <a:ext cx="25603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36392" y="267919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₹ ___________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650992" y="2679192"/>
            <a:ext cx="33375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696712" y="267919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64592" y="2880360"/>
            <a:ext cx="2926080" cy="20116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0312" y="2880360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HMI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090672" y="2880360"/>
            <a:ext cx="2560320" cy="20116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36392" y="288036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₹ ___________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650992" y="2880360"/>
            <a:ext cx="3337560" cy="20116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96712" y="288036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164592" y="3081528"/>
            <a:ext cx="29260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10312" y="3081528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Control Panel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3090672" y="3081528"/>
            <a:ext cx="25603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136392" y="3081528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₹ ___________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5650992" y="3081528"/>
            <a:ext cx="33375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696712" y="308152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164592" y="3282696"/>
            <a:ext cx="2926080" cy="20116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10312" y="3282696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AMR / 7th Axis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090672" y="3282696"/>
            <a:ext cx="2560320" cy="20116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136392" y="3282696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₹ ___________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5650992" y="3282696"/>
            <a:ext cx="3337560" cy="20116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696712" y="3282696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164592" y="3483864"/>
            <a:ext cx="29260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10312" y="3483864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Software AMR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3090672" y="3483864"/>
            <a:ext cx="25603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136392" y="3483864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₹ ___________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5650992" y="3483864"/>
            <a:ext cx="33375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696712" y="3483864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64592" y="3685032"/>
            <a:ext cx="2926080" cy="20116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10312" y="3685032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Installation &amp; Comm.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3090672" y="3685032"/>
            <a:ext cx="2560320" cy="20116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136392" y="368503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2D2D"/>
                </a:solidFill>
              </a:rPr>
              <a:t>₹ ___________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5650992" y="3685032"/>
            <a:ext cx="3337560" cy="20116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696712" y="368503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164592" y="3886200"/>
            <a:ext cx="292608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10312" y="3886200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2D2D"/>
                </a:solidFill>
              </a:rPr>
              <a:t>System Price (Excl. Robot)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3090672" y="3886200"/>
            <a:ext cx="256032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136392" y="388620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2D2D"/>
                </a:solidFill>
              </a:rPr>
              <a:t>₹ ___________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5650992" y="3886200"/>
            <a:ext cx="333756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696712" y="388620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2D2D"/>
                </a:solidFill>
              </a:rPr>
              <a:t>Sum of above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164592" y="4087368"/>
            <a:ext cx="292608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10312" y="4087368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2D2D"/>
                </a:solidFill>
              </a:rPr>
              <a:t>Total Robot Cost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3090672" y="4087368"/>
            <a:ext cx="256032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136392" y="4087368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2D2D"/>
                </a:solidFill>
              </a:rPr>
              <a:t>₹ ___________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5650992" y="4087368"/>
            <a:ext cx="333756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696712" y="408736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2D2D"/>
                </a:solidFill>
              </a:rPr>
              <a:t>Per Robot Cost × Qty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164592" y="4288536"/>
            <a:ext cx="292608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10312" y="4288536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2D2D"/>
                </a:solidFill>
              </a:rPr>
              <a:t>Overall Project Total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3090672" y="4288536"/>
            <a:ext cx="256032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136392" y="4288536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2D2D"/>
                </a:solidFill>
              </a:rPr>
              <a:t>₹ ___________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5650992" y="4288536"/>
            <a:ext cx="333756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696712" y="4288536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2D2D"/>
                </a:solidFill>
              </a:rPr>
              <a:t>System + Robot Cost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164592" y="4489704"/>
            <a:ext cx="292608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10312" y="4489704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2D2D"/>
                </a:solidFill>
              </a:rPr>
              <a:t>Robot Warranty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3090672" y="4489704"/>
            <a:ext cx="256032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136392" y="4489704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2D2D"/>
                </a:solidFill>
              </a:rPr>
              <a:t>[X] Year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5650992" y="4489704"/>
            <a:ext cx="333756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696712" y="4489704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2D2D"/>
                </a:solidFill>
              </a:rPr>
              <a:t>Standard: 1 Year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164592" y="4690872"/>
            <a:ext cx="292608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10312" y="4690872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2D2D"/>
                </a:solidFill>
              </a:rPr>
              <a:t>Per Robot Cost (incl. system split)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3090672" y="4690872"/>
            <a:ext cx="256032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136392" y="469087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2D2D"/>
                </a:solidFill>
              </a:rPr>
              <a:t>₹ ___________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5650992" y="4690872"/>
            <a:ext cx="333756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696712" y="469087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2D2D"/>
                </a:solidFill>
              </a:rPr>
              <a:t>(System/Qty Robots) + Per Robot Cost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1650</Words>
  <Application>WPS Presentation</Application>
  <PresentationFormat>On-screen Show (16:9)</PresentationFormat>
  <Paragraphs>246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LGB RFQ Template</dc:title>
  <dc:creator>PptxGenJS</dc:creator>
  <dc:subject>PptxGenJS Presentation</dc:subject>
  <cp:lastModifiedBy>ELCOT</cp:lastModifiedBy>
  <cp:revision>51</cp:revision>
  <dcterms:created xsi:type="dcterms:W3CDTF">2026-05-06T02:49:00Z</dcterms:created>
  <dcterms:modified xsi:type="dcterms:W3CDTF">2026-07-26T14:59:04Z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0364E8E7284547E3BC28BF729E924815_12</vt:lpwstr>
  </property>
</Properties>
</file>
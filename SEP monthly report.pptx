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258" r:id="rId4"/>
    <p:sldId id="266" r:id="rId5"/>
    <p:sldId id="391" r:id="rId6"/>
    <p:sldId id="398" r:id="rId7"/>
    <p:sldId id="401" r:id="rId8"/>
    <p:sldId id="270" r:id="rId9"/>
    <p:sldId id="392" r:id="rId10"/>
    <p:sldId id="397" r:id="rId11"/>
    <p:sldId id="402" r:id="rId12"/>
    <p:sldId id="284" r:id="rId13"/>
    <p:sldId id="396" r:id="rId14"/>
    <p:sldId id="393" r:id="rId15"/>
    <p:sldId id="407" r:id="rId16"/>
    <p:sldId id="273" r:id="rId17"/>
    <p:sldId id="395" r:id="rId18"/>
    <p:sldId id="400" r:id="rId19"/>
    <p:sldId id="405" r:id="rId20"/>
    <p:sldId id="411" r:id="rId21"/>
    <p:sldId id="408" r:id="rId22"/>
    <p:sldId id="409" r:id="rId23"/>
    <p:sldId id="410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1200785" y="2377440"/>
            <a:ext cx="1007110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IN" alt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LGB </a:t>
            </a: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Robotic Automation</a:t>
            </a:r>
            <a:r>
              <a:rPr lang="en-IN" alt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</a:t>
            </a: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Projects 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27736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ROJECT OVERVIEW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-635" y="860425"/>
          <a:ext cx="12192000" cy="4901565"/>
        </p:xfrm>
        <a:graphic>
          <a:graphicData uri="http://schemas.openxmlformats.org/drawingml/2006/table">
            <a:tbl>
              <a:tblPr/>
              <a:tblGrid>
                <a:gridCol w="533400"/>
                <a:gridCol w="1765300"/>
                <a:gridCol w="2643505"/>
                <a:gridCol w="1808480"/>
                <a:gridCol w="1308100"/>
                <a:gridCol w="1309370"/>
                <a:gridCol w="2823845"/>
              </a:tblGrid>
              <a:tr h="48387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Process Scope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Robots / Cobots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 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Current Status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Stellantis line 1-Phase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, Ultrasonic washing , Vision , OilWashing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× UR12e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07-07-2025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20-07-2026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&amp; inprogress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95123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BMW RAD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OP20→OP30→OP40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4 Cobots + 1 AMR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02-02-2026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20-09-2026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DAP approved</a:t>
                      </a:r>
                      <a:endParaRPr 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743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Helical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UR12e Cobot + 1 yaskava 20kg robot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31-03-2026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20-09-2026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Cobot cell installation &amp; commissionong inprogress</a:t>
                      </a:r>
                      <a:endParaRPr 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Ather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5 × ABB 12kg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15-02-2026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15-10-2026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Mechanical &amp; electrical iteam are under manafacturing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4 × UR12e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24-04-2026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15-10-2026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One cell productiion trail inprogress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11885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Stellantis 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Line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( SEP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OCTUMBER 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8E6BA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IN" altLang="en-US" sz="9000" b="1" dirty="0">
              <a:solidFill>
                <a:srgbClr val="8E6BA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8E6BAE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Helical Machine Tending Line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Helical line - SEPTEMBERT (PLAN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534035" y="991235"/>
          <a:ext cx="11235690" cy="5408295"/>
        </p:xfrm>
        <a:graphic>
          <a:graphicData uri="http://schemas.openxmlformats.org/drawingml/2006/table">
            <a:tbl>
              <a:tblPr/>
              <a:tblGrid>
                <a:gridCol w="728345"/>
                <a:gridCol w="3223895"/>
                <a:gridCol w="1548130"/>
                <a:gridCol w="942975"/>
                <a:gridCol w="751205"/>
                <a:gridCol w="734695"/>
                <a:gridCol w="847725"/>
                <a:gridCol w="739775"/>
                <a:gridCol w="728345"/>
                <a:gridCol w="990600"/>
              </a:tblGrid>
              <a:tr h="431165">
                <a:tc gridSpan="10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HELICAL LINE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%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3309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240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Dispatch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245">
                <a:tc gridSpan="10">
                  <a:txBody>
                    <a:bodyPr/>
                    <a:p>
                      <a:pPr algn="l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&amp;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COMMISSIONING IN TWO COBOT CELL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987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AT-T39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 Receipt at Customer Site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AT-T40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Unloading &amp; Inspection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Positioning &amp; Alignment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AT-T42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Input table &amp; Output table Leveling &amp; Assemble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AT-T43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Pedestal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AT-T44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AT-T45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Gripper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Pneumatic Line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Control Panel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Electrical Wiring &amp; Cable Dressing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87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AT-T49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PLC, HMI &amp; Network Connections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24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AT-T50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Power ON &amp; I/O Verification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Helical line - SEP - Plan VS Actual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95" y="1654175"/>
            <a:ext cx="3267075" cy="36353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930" y="1575435"/>
            <a:ext cx="6287770" cy="3688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32430" y="5365750"/>
            <a:ext cx="6710680" cy="859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COBOT CELL ASSEMBLED AS PER THE AUTOMATION LAYOUT </a:t>
            </a:r>
            <a:r>
              <a:rPr lang="en-IN" alt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alt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Helical line - OCTOBER PLANNED TASK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22250" y="930275"/>
          <a:ext cx="11746865" cy="5647690"/>
        </p:xfrm>
        <a:graphic>
          <a:graphicData uri="http://schemas.openxmlformats.org/drawingml/2006/table">
            <a:tbl>
              <a:tblPr/>
              <a:tblGrid>
                <a:gridCol w="762635"/>
                <a:gridCol w="3985895"/>
                <a:gridCol w="1285240"/>
                <a:gridCol w="785495"/>
                <a:gridCol w="785495"/>
                <a:gridCol w="785495"/>
                <a:gridCol w="785495"/>
                <a:gridCol w="774700"/>
                <a:gridCol w="760730"/>
                <a:gridCol w="1035685"/>
              </a:tblGrid>
              <a:tr h="321310">
                <a:tc gridSpan="10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HELICAL LINE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7244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319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660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Dispatch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140">
                <a:tc gridSpan="10">
                  <a:txBody>
                    <a:bodyPr/>
                    <a:p>
                      <a:pPr algn="l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&amp; COMMISSIONING IN TWO COBOT CELL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AT-T39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 Receipt at Customer Site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AT-T40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Unloading &amp; Inspection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Positioning &amp; Alignment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AT-T42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Input table &amp; Output table Leveling &amp; Assemble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AT-T43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Pedestal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AT-T44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AT-T45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Gripper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Pneumatic Line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Control Panel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Electrical Wiring &amp; Cable Dressing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AT-T49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PLC, HMI &amp; Network Connections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AT-T50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Power ON &amp; I/O Verification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 Calibration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AT-T52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 &amp; Robot Program 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AT-T53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Dry Run Trial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AT-T54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Production Trial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AT-T55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Cycle Time Optimization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Safety Validation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&amp; Maintenance Training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Robonetics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Site Acceptance Test (SAT) &amp; Handover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8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Daimler line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Machine Tending 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- SEPTEMBER (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11125" y="743585"/>
          <a:ext cx="12035155" cy="6008370"/>
        </p:xfrm>
        <a:graphic>
          <a:graphicData uri="http://schemas.openxmlformats.org/drawingml/2006/table">
            <a:tbl>
              <a:tblPr/>
              <a:tblGrid>
                <a:gridCol w="705485"/>
                <a:gridCol w="3469005"/>
                <a:gridCol w="1082040"/>
                <a:gridCol w="981075"/>
                <a:gridCol w="860425"/>
                <a:gridCol w="847725"/>
                <a:gridCol w="951865"/>
                <a:gridCol w="674370"/>
                <a:gridCol w="831850"/>
                <a:gridCol w="1631315"/>
              </a:tblGrid>
              <a:tr h="222885">
                <a:tc gridSpan="10">
                  <a:txBody>
                    <a:bodyPr/>
                    <a:p>
                      <a:pPr algn="ctr" fontAlgn="ctr"/>
                      <a:r>
                        <a:rPr lang="en-US" sz="17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 line</a:t>
                      </a:r>
                      <a:endParaRPr lang="en-US" sz="17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2885"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22288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288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AT-T37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88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AT-T38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Dispatch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885">
                <a:tc gridSpan="10">
                  <a:txBody>
                    <a:bodyPr/>
                    <a:p>
                      <a:pPr algn="l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&amp; COMMISSIONING ONE CELL (1361 PART )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AT-T39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 Receipt at Customer Site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Unloading &amp; Inspection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24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Positioning &amp; Alignment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 Week dely due to machine movement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AT-T42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Input table &amp; Output table Leveling &amp; Assemble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AT-T43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Pedestal Installation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AT-T44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Installation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31-Aug-26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AT-T45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Gripper Installation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Pneumatic Line Installation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AT-T47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Control Panel Installation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AT-T48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Electrical Wiring &amp; Cable Dressing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AT-T49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PLC, HMI &amp; Network Connections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Power ON &amp; I/O Verification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 Calibration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AT-T52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 &amp; Robot Program 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AT-T53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Dry Run Trial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AT-T54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Production Trial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AT-T55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Cycle Time Optimization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Safety Validation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AT-T57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&amp; Maintenance Training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MVGL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26-Sep-26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1-Oct-26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20%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AT-T58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Site Acceptance Test (SAT) &amp; Handover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1-Oct-26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8860" y="325628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ONE CELL PRODUCTION VIDEO </a:t>
            </a:r>
            <a:r>
              <a:rPr lang="en-IN" alt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alt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OCTOMBER 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222250" y="934085"/>
          <a:ext cx="11747500" cy="5834380"/>
        </p:xfrm>
        <a:graphic>
          <a:graphicData uri="http://schemas.openxmlformats.org/drawingml/2006/table">
            <a:tbl>
              <a:tblPr/>
              <a:tblGrid>
                <a:gridCol w="704850"/>
                <a:gridCol w="3692525"/>
                <a:gridCol w="859155"/>
                <a:gridCol w="981075"/>
                <a:gridCol w="859790"/>
                <a:gridCol w="847725"/>
                <a:gridCol w="840740"/>
                <a:gridCol w="768985"/>
                <a:gridCol w="848360"/>
                <a:gridCol w="1344295"/>
              </a:tblGrid>
              <a:tr h="343535">
                <a:tc gridSpan="10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 LINE</a:t>
                      </a:r>
                      <a:endParaRPr sz="15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7810"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2584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526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Dispatch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 gridSpan="10">
                  <a:txBody>
                    <a:bodyPr/>
                    <a:p>
                      <a:pPr algn="l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&amp; COMMISSIONING  ANOTHER THREE CELL (1361 , 1217 , 1142  PART )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AT-T39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 Receipt at Customer Site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AT-T40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Unloading &amp; Inspection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Positioning &amp; Alignment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AT-T42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Input table &amp; Output table Leveling &amp; Assemble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AT-T43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Pedestal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AT-T44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AT-T45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Gripper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Pneumatic Line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Control Panel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Electrical Wiring &amp; Cable Dressing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AT-T49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PLC, HMI &amp; Network Connections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AT-T50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Power ON &amp; I/O Verification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 Calibration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AT-T52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 &amp; Robot Program 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AT-T53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Dry Run Trial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AT-T54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Production Trial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AT-T55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Cycle Time Optimization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900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Safety Validation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&amp; Maintenance Training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MVGL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265"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Site Acceptance Test (SAT) &amp; Handover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Ather line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Machine Tending 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Ather line Sep (Plan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221615" y="720090"/>
          <a:ext cx="11747500" cy="5332730"/>
        </p:xfrm>
        <a:graphic>
          <a:graphicData uri="http://schemas.openxmlformats.org/drawingml/2006/table">
            <a:tbl>
              <a:tblPr/>
              <a:tblGrid>
                <a:gridCol w="677545"/>
                <a:gridCol w="1814195"/>
                <a:gridCol w="1059815"/>
                <a:gridCol w="1024890"/>
                <a:gridCol w="1025525"/>
                <a:gridCol w="1026795"/>
                <a:gridCol w="1024890"/>
                <a:gridCol w="1025525"/>
                <a:gridCol w="1025525"/>
                <a:gridCol w="2042795"/>
              </a:tblGrid>
              <a:tr h="406400">
                <a:tc gridSpan="10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Ather line Project timeline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ID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Description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Team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Status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% Complete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Remarks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29337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Start Date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End Date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Start Date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End Date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AT-T29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Detailed Design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Mechanical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5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AT-T30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DAP Design Approval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OT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5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7690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AT-T31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DAP Design Approval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Plant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5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6-day delay due to the Plant Team’s DAP approval process.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100">
                <a:tc gridSpan="10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MANUFACTURING &amp; FABRICATION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AT-T32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Procurement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Purchase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5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08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AT-T33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Manufacturing / Fabrication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Mechanical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29-Sep-26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60%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AT-T34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Electrical Panel Design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Controls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29-Sep-26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60%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AT-T35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PLC &amp; HMI Development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Controls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28-Sep-26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60%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6672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AT-T36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Assembly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Project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28-Sep-26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30-Sep-26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01-0ct-26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Ather Line DAP Approval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Ather Line OCT ( Plan)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222250" y="877570"/>
          <a:ext cx="11604625" cy="5795010"/>
        </p:xfrm>
        <a:graphic>
          <a:graphicData uri="http://schemas.openxmlformats.org/drawingml/2006/table">
            <a:tbl>
              <a:tblPr/>
              <a:tblGrid>
                <a:gridCol w="485140"/>
                <a:gridCol w="2580005"/>
                <a:gridCol w="1092835"/>
                <a:gridCol w="931545"/>
                <a:gridCol w="932180"/>
                <a:gridCol w="931545"/>
                <a:gridCol w="932180"/>
                <a:gridCol w="931545"/>
                <a:gridCol w="932180"/>
                <a:gridCol w="1855470"/>
              </a:tblGrid>
              <a:tr h="20764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Ather line project timeline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20764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Dispatch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Dispatch Team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7645">
                <a:tc gridSpan="10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&amp; COMMISSIONING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AT-T39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 Receipt at Customer Site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AT-T40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Unloading &amp; Inspection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Positioning &amp; Alignment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AT-T42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Input table &amp; Output table Leveling &amp; Assemble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AT-T43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Pedestal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AT-T44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AT-T45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Gripper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Pneumatic Line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Control Panel Installation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Electrical Wiring &amp; Cable Dressing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AT-T49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PLC, HMI &amp; Network Connections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AT-T50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Power ON &amp; I/O Verification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 Calibration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AT-T52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 &amp; Robot Program 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AT-T53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Dry Run Trial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AT-T54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Production Trial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AT-T55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Cycle Time Optimization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Safety Validation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AT-T57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&amp; Maintenance Training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 + MELSS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AT-T58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Site Acceptance Test (SAT) &amp; Handover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LGB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IN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RAD</a:t>
            </a: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line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Machine Tending 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 Line SEP ( Plan VS actual)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222885" y="1468120"/>
          <a:ext cx="11543030" cy="4014470"/>
        </p:xfrm>
        <a:graphic>
          <a:graphicData uri="http://schemas.openxmlformats.org/drawingml/2006/table">
            <a:tbl>
              <a:tblPr/>
              <a:tblGrid>
                <a:gridCol w="934720"/>
                <a:gridCol w="1591945"/>
                <a:gridCol w="1289050"/>
                <a:gridCol w="1164590"/>
                <a:gridCol w="1135380"/>
                <a:gridCol w="993140"/>
                <a:gridCol w="1071880"/>
                <a:gridCol w="934085"/>
                <a:gridCol w="1158240"/>
                <a:gridCol w="1270000"/>
              </a:tblGrid>
              <a:tr h="600710">
                <a:tc gridSpan="10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PROJECT SCHEDULE – BMW RAD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E1B4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46100">
                <a:tc row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ID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Description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Team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Status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% Complete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Remarks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</a:tr>
              <a:tr h="546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Start</a:t>
                      </a:r>
                      <a:endParaRPr sz="16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D6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Finish</a:t>
                      </a:r>
                      <a:endParaRPr sz="16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D6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Start</a:t>
                      </a:r>
                      <a:endParaRPr sz="16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D6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Finish</a:t>
                      </a:r>
                      <a:endParaRPr sz="16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D6F0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73125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BM-T29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Detailed Design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Mechanical Team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BM-T30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Design Approval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Project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73125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BM-T31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Customer Design Approval 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Plant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27-Sep-26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29-Sep-20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5BD4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 Line SEP ( Plan VS actual)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4753" t="9065" r="9975"/>
          <a:stretch>
            <a:fillRect/>
          </a:stretch>
        </p:blipFill>
        <p:spPr>
          <a:xfrm rot="16200000">
            <a:off x="3832225" y="-920750"/>
            <a:ext cx="4385945" cy="87864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 LINE OCTOMBER 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426720" y="1053465"/>
          <a:ext cx="11164570" cy="4613910"/>
        </p:xfrm>
        <a:graphic>
          <a:graphicData uri="http://schemas.openxmlformats.org/drawingml/2006/table">
            <a:tbl>
              <a:tblPr/>
              <a:tblGrid>
                <a:gridCol w="950595"/>
                <a:gridCol w="1617345"/>
                <a:gridCol w="1455420"/>
                <a:gridCol w="1217295"/>
                <a:gridCol w="1024255"/>
                <a:gridCol w="1024890"/>
                <a:gridCol w="1023620"/>
                <a:gridCol w="950595"/>
                <a:gridCol w="949960"/>
                <a:gridCol w="950595"/>
              </a:tblGrid>
              <a:tr h="338455">
                <a:tc gridSpan="10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PROJECT SCHEDULE – BMW RAD ROBOTIC LINE PROJECT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E1B4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7975"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ID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Description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Team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Status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% Complete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Remarks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C449B"/>
                    </a:solidFill>
                  </a:tcPr>
                </a:tc>
              </a:tr>
              <a:tr h="3079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Start</a:t>
                      </a:r>
                      <a:endParaRPr sz="15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D6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Finish</a:t>
                      </a:r>
                      <a:endParaRPr sz="15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D6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Start</a:t>
                      </a:r>
                      <a:endParaRPr sz="15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D6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1" i="0">
                          <a:solidFill>
                            <a:srgbClr val="0E1B4D"/>
                          </a:solidFill>
                          <a:latin typeface="Arial" panose="020B0604020202020204"/>
                          <a:ea typeface="Arial" panose="020B0604020202020204"/>
                        </a:rPr>
                        <a:t>Finish</a:t>
                      </a:r>
                      <a:endParaRPr sz="1500" b="1" i="0">
                        <a:solidFill>
                          <a:srgbClr val="0E1B4D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D6F0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 gridSpan="10">
                  <a:txBody>
                    <a:bodyPr/>
                    <a:p>
                      <a:pPr algn="l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MANUFACTURING &amp; FABRICATION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E2D6B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670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BM-T32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Procurement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Purchase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BM-T33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Manufacturing / Fabrication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Mechanical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1650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BM-T34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Electrical Panel Design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Controls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101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BM-T35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PLC &amp; HMI Development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Controls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797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Assembly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Project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975">
                <a:tc gridSpan="10">
                  <a:txBody>
                    <a:bodyPr/>
                    <a:p>
                      <a:pPr algn="l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FAT, DISPATCH &amp; SITE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E2D6B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797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BM-T37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FAT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Project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BM-T38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Dispatch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Dispatch Team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7975"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BM-T39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Installation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Project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17-Oct-26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15-Nov-26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2461260" y="2506345"/>
            <a:ext cx="72701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6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altLang="en-US" sz="6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16550</Words>
  <Application>WPS Presentation</Application>
  <PresentationFormat>Widescreen</PresentationFormat>
  <Paragraphs>2582</Paragraphs>
  <Slides>23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Aptos</vt:lpstr>
      <vt:lpstr>Segoe UI</vt:lpstr>
      <vt:lpstr>Microsoft YaHei</vt:lpstr>
      <vt:lpstr>Arial Unicode MS</vt:lpstr>
      <vt:lpstr>Aptos Display</vt:lpstr>
      <vt:lpstr>Segoe UI Variable Display</vt:lpstr>
      <vt:lpstr>Arial</vt:lpstr>
      <vt:lpstr>Times New Roman</vt:lpstr>
      <vt:lpstr>Aptos Narrow</vt:lpstr>
      <vt:lpstr>Calibri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 M</dc:creator>
  <cp:lastModifiedBy>TWR</cp:lastModifiedBy>
  <cp:revision>315</cp:revision>
  <dcterms:created xsi:type="dcterms:W3CDTF">2024-03-07T14:31:00Z</dcterms:created>
  <dcterms:modified xsi:type="dcterms:W3CDTF">2026-09-30T21:24:11Z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A76EE7BB7F1942FEBA1FA2AD388E26D3_13</vt:lpwstr>
  </property>
</Properties>
</file>
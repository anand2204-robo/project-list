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67" r:id="rId3"/>
    <p:sldId id="285" r:id="rId4"/>
    <p:sldId id="286" r:id="rId5"/>
    <p:sldId id="276" r:id="rId6"/>
    <p:sldId id="277" r:id="rId7"/>
    <p:sldId id="287" r:id="rId8"/>
    <p:sldId id="274" r:id="rId9"/>
    <p:sldId id="290" r:id="rId10"/>
    <p:sldId id="275" r:id="rId11"/>
    <p:sldId id="280" r:id="rId12"/>
    <p:sldId id="293" r:id="rId13"/>
    <p:sldId id="281" r:id="rId14"/>
    <p:sldId id="282" r:id="rId15"/>
    <p:sldId id="283" r:id="rId16"/>
    <p:sldId id="284" r:id="rId17"/>
    <p:sldId id="265" r:id="rId18"/>
  </p:sldIdLst>
  <p:sldSz cx="18288000" cy="10287000"/>
  <p:notesSz cx="6858000" cy="9144000"/>
  <p:embeddedFontLst>
    <p:embeddedFont>
      <p:font typeface="Arial MT Pro Bold" panose="020B0604020202020204" charset="0"/>
      <p:bold r:id="rId20"/>
    </p:embeddedFont>
    <p:embeddedFont>
      <p:font typeface="Gill Sans MT" panose="020B0502020104020203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28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725D5-3FD5-72DF-754D-864DBE0B9597}" v="35" dt="2026-07-18T05:07:41.437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36"/>
        <p:guide pos="28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5" Type="http://schemas.openxmlformats.org/officeDocument/2006/relationships/slide" Target="slide8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slide" Target="slide2.xml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ppt/slides/ppt/slides/ppt/slides/clipboard/slides/ppt/slides/ppt/media/media11.mp4" TargetMode="External"/><Relationship Id="rId1" Type="http://schemas.microsoft.com/office/2007/relationships/media" Target="ppt/slides/ppt/slides/ppt/slides/clipboard/slides/ppt/slides/ppt/media/media11.mp4" TargetMode="Externa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10325" y="230734"/>
            <a:ext cx="7202228" cy="7612346"/>
          </a:xfrm>
          <a:custGeom>
            <a:avLst/>
            <a:gdLst/>
            <a:ahLst/>
            <a:cxnLst/>
            <a:rect l="l" t="t" r="r" b="b"/>
            <a:pathLst>
              <a:path w="11404113" h="11487660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74577" y="845799"/>
            <a:ext cx="499539" cy="503199"/>
          </a:xfrm>
          <a:custGeom>
            <a:avLst/>
            <a:gdLst/>
            <a:ahLst/>
            <a:cxnLst/>
            <a:rect l="l" t="t" r="r" b="b"/>
            <a:pathLst>
              <a:path w="499539" h="50319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2127230" y="8236585"/>
            <a:ext cx="4796790" cy="1212215"/>
            <a:chOff x="0" y="0"/>
            <a:chExt cx="1776404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76404" cy="406400"/>
            </a:xfrm>
            <a:custGeom>
              <a:avLst/>
              <a:gdLst/>
              <a:ahLst/>
              <a:cxnLst/>
              <a:rect l="l" t="t" r="r" b="b"/>
              <a:pathLst>
                <a:path w="1776404" h="406400">
                  <a:moveTo>
                    <a:pt x="1573204" y="0"/>
                  </a:moveTo>
                  <a:cubicBezTo>
                    <a:pt x="1685428" y="0"/>
                    <a:pt x="1776404" y="90976"/>
                    <a:pt x="1776404" y="203200"/>
                  </a:cubicBezTo>
                  <a:cubicBezTo>
                    <a:pt x="1776404" y="315424"/>
                    <a:pt x="1685428" y="406400"/>
                    <a:pt x="15732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7640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054225" y="4039235"/>
            <a:ext cx="12773025" cy="1498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175" b="1" spc="-126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ill Sans MT" panose="020B0802020104020203" charset="0"/>
                <a:ea typeface="Garet Bold"/>
                <a:cs typeface="Gill Sans MT" panose="020B0802020104020203" charset="0"/>
                <a:sym typeface="Garet Bold"/>
              </a:rPr>
              <a:t>Vision </a:t>
            </a:r>
            <a:r>
              <a:rPr lang="en-US" sz="12175" b="1" spc="-126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ill Sans MT" panose="020B0802020104020203" charset="0"/>
                <a:ea typeface="Garet Bold"/>
                <a:cs typeface="Gill Sans MT" panose="020B0802020104020203" charset="0"/>
                <a:sym typeface="Garet Bold"/>
              </a:rPr>
              <a:t>Projects</a:t>
            </a:r>
            <a:endParaRPr lang="en-US" sz="12175" b="1" spc="-194">
              <a:solidFill>
                <a:srgbClr val="FFFFFF"/>
              </a:solidFill>
              <a:latin typeface="Arial MT Pro Bold" panose="020B0802020202020204"/>
              <a:ea typeface="Arial MT Pro Bold" panose="020B0802020202020204"/>
              <a:cs typeface="Arial MT Pro Bold" panose="020B0802020202020204"/>
              <a:sym typeface="Arial MT Pro Bold" panose="020B0802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95145" y="930275"/>
            <a:ext cx="4040505" cy="2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2575" b="1" i="1" spc="-98">
                <a:solidFill>
                  <a:srgbClr val="86B9F5"/>
                </a:solidFill>
                <a:latin typeface="Gill Sans MT" panose="020B0802020104020203" charset="0"/>
                <a:ea typeface="Open Sauce Medium" panose="00000600000000000000"/>
                <a:cs typeface="Gill Sans MT" panose="020B0802020104020203" charset="0"/>
                <a:sym typeface="Open Sauce Medium" panose="00000600000000000000"/>
              </a:rPr>
              <a:t>Operations Technology</a:t>
            </a:r>
            <a:endParaRPr lang="en-US" sz="2575" b="1" spc="-41">
              <a:solidFill>
                <a:srgbClr val="FFFFFF"/>
              </a:solidFill>
              <a:latin typeface="Arial MT Pro Bold" panose="020B0802020202020204"/>
              <a:ea typeface="Arial MT Pro Bold" panose="020B0802020202020204"/>
              <a:cs typeface="Arial MT Pro Bold" panose="020B0802020202020204"/>
              <a:sym typeface="Arial MT Pro Bold" panose="020B0802020202020204"/>
            </a:endParaRPr>
          </a:p>
        </p:txBody>
      </p:sp>
      <p:sp>
        <p:nvSpPr>
          <p:cNvPr id="23" name="TextBox 12"/>
          <p:cNvSpPr txBox="1"/>
          <p:nvPr/>
        </p:nvSpPr>
        <p:spPr>
          <a:xfrm>
            <a:off x="12075706" y="8649016"/>
            <a:ext cx="4848314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0"/>
              </a:lnSpc>
            </a:pPr>
            <a:r>
              <a:rPr lang="en-US" sz="3255" spc="-195" dirty="0">
                <a:solidFill>
                  <a:srgbClr val="86B9F5"/>
                </a:solidFill>
                <a:latin typeface="Gill Sans MT" panose="020B0802020104020203" charset="0"/>
                <a:ea typeface="Garet"/>
                <a:cs typeface="Gill Sans MT" panose="020B0802020104020203" charset="0"/>
                <a:sym typeface="Garet"/>
              </a:rPr>
              <a:t>Sujith </a:t>
            </a:r>
            <a:r>
              <a:rPr lang="en-US" sz="3255" spc="-195" dirty="0" err="1">
                <a:solidFill>
                  <a:srgbClr val="86B9F5"/>
                </a:solidFill>
                <a:latin typeface="Gill Sans MT" panose="020B0802020104020203" charset="0"/>
                <a:ea typeface="Garet"/>
                <a:cs typeface="Gill Sans MT" panose="020B0802020104020203" charset="0"/>
                <a:sym typeface="Garet"/>
              </a:rPr>
              <a:t>Muraleedaran</a:t>
            </a:r>
            <a:endParaRPr lang="en-US" sz="3255" spc="-195" dirty="0">
              <a:solidFill>
                <a:srgbClr val="86B9F5"/>
              </a:solidFill>
              <a:latin typeface="Gill Sans MT" panose="020B0802020104020203" charset="0"/>
              <a:ea typeface="Garet"/>
              <a:cs typeface="Gill Sans MT" panose="020B0802020104020203" charset="0"/>
              <a:sym typeface="Gare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3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 Box 4"/>
          <p:cNvSpPr txBox="1"/>
          <p:nvPr/>
        </p:nvSpPr>
        <p:spPr>
          <a:xfrm>
            <a:off x="7874000" y="495935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altLang="en-US"/>
              <a:t> 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6650355" y="9486900"/>
            <a:ext cx="56921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en-GB" sz="2800" b="1">
              <a:solidFill>
                <a:schemeClr val="bg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386071" y="952500"/>
            <a:ext cx="7869555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 algn="ctr">
              <a:buNone/>
            </a:pPr>
            <a:r>
              <a:rPr lang="en-GB" altLang="en-US" sz="36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VISION PROJECTS</a:t>
            </a:r>
            <a:r>
              <a:rPr lang="en-US" altLang="en-US" sz="36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 (Plan &amp; Status)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1238250" y="2370455"/>
          <a:ext cx="15648305" cy="3599180"/>
        </p:xfrm>
        <a:graphic>
          <a:graphicData uri="http://schemas.openxmlformats.org/drawingml/2006/table">
            <a:tbl>
              <a:tblPr/>
              <a:tblGrid>
                <a:gridCol w="910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6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2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7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29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708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514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Project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 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Current Status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Capex Cost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ROI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440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1">
                          <a:latin typeface="Calibri" panose="020F0502020204030204" charset="0"/>
                          <a:cs typeface="Calibri" panose="020F0502020204030204" charset="0"/>
                          <a:sym typeface="+mn-ea"/>
                          <a:hlinkClick r:id="rId4" action="ppaction://hlinksldjump"/>
                        </a:rPr>
                        <a:t>Multiguaging - OCR Part No Identification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5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P.Palayam - Stellantis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GB" altLang="en-US" sz="15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08.08.2025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GB" altLang="en-US" sz="15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18.11.2025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Completed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7,34,000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sym typeface="+mn-ea"/>
                        </a:rPr>
                        <a:t>4.6 months</a:t>
                      </a:r>
                      <a:endParaRPr lang="en-US" sz="1800" b="1" i="0">
                        <a:solidFill>
                          <a:schemeClr val="tx1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313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5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hlinkClick r:id="rId5" action="ppaction://hlinksldjump"/>
                        </a:rPr>
                        <a:t>Keyence Laser Measurement</a:t>
                      </a:r>
                      <a:endParaRPr lang="en-US" altLang="en-US" sz="1500" b="1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5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P.Palayam - Stellantis</a:t>
                      </a:r>
                      <a:endParaRPr lang="en-US" altLang="en-US" sz="1500" b="1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GB" altLang="en-US" sz="15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15.08.2025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GB" altLang="en-US" sz="15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08.01.2026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1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Completed</a:t>
                      </a:r>
                      <a:endParaRPr lang="en-US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12</a:t>
                      </a:r>
                      <a:r>
                        <a:rPr lang="en-US" altLang="en-IN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,2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3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,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0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00</a:t>
                      </a:r>
                      <a:endParaRPr lang="en-GB" altLang="en-US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1.15 years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5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hlinkClick r:id="rId6" action="ppaction://hlinksldjump"/>
                        </a:rPr>
                        <a:t>MPI Crack Identification- Knowledge Q</a:t>
                      </a:r>
                      <a:endParaRPr lang="en-US" altLang="en-US" sz="1500" b="1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5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P.Palayam - Daimler</a:t>
                      </a:r>
                      <a:endParaRPr lang="en-US" altLang="en-US" sz="1500" b="1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GB" altLang="en-US" sz="15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03.01.2026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GB" altLang="en-US" sz="15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01.03.2026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1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Completed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6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8,25,560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8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7.5 Months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34859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463" r="-17246" b="-60988"/>
            </a:stretch>
          </a:blipFill>
        </p:spPr>
      </p:sp>
      <p:sp>
        <p:nvSpPr>
          <p:cNvPr id="3" name="Text Box 2"/>
          <p:cNvSpPr txBox="1"/>
          <p:nvPr/>
        </p:nvSpPr>
        <p:spPr>
          <a:xfrm>
            <a:off x="304800" y="342900"/>
            <a:ext cx="175768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Multiguaging Final Inpection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275" y="1018540"/>
            <a:ext cx="15361920" cy="86391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553200" y="9688830"/>
            <a:ext cx="50920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>
                <a:solidFill>
                  <a:schemeClr val="bg1"/>
                </a:solidFill>
              </a:rPr>
              <a:t>Plant : P-palayam| Project : SFQA</a:t>
            </a:r>
          </a:p>
        </p:txBody>
      </p:sp>
      <p:sp>
        <p:nvSpPr>
          <p:cNvPr id="9" name="Oval 8"/>
          <p:cNvSpPr/>
          <p:nvPr/>
        </p:nvSpPr>
        <p:spPr>
          <a:xfrm>
            <a:off x="381000" y="2667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3600" b="1"/>
              <a:t>1</a:t>
            </a:r>
          </a:p>
        </p:txBody>
      </p:sp>
      <p:sp>
        <p:nvSpPr>
          <p:cNvPr id="5" name="Rectangles 4"/>
          <p:cNvSpPr/>
          <p:nvPr/>
        </p:nvSpPr>
        <p:spPr>
          <a:xfrm>
            <a:off x="16230600" y="266700"/>
            <a:ext cx="17526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GB">
                <a:hlinkClick r:id="rId4" action="ppaction://hlinksldjump"/>
              </a:rPr>
              <a:t>Home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21590"/>
            <a:ext cx="18288000" cy="1034669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4"/>
            <a:stretch>
              <a:fillRect l="-18463" r="-17246" b="-60988"/>
            </a:stretch>
          </a:blipFill>
        </p:spPr>
      </p:sp>
      <p:sp>
        <p:nvSpPr>
          <p:cNvPr id="3" name="Text Box 2"/>
          <p:cNvSpPr txBox="1"/>
          <p:nvPr/>
        </p:nvSpPr>
        <p:spPr>
          <a:xfrm>
            <a:off x="549275" y="38100"/>
            <a:ext cx="93599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r">
              <a:buNone/>
            </a:pPr>
            <a:r>
              <a:rPr lang="en-US" sz="32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Multiguaging Final Inpection with OCR based component Tracking System - Results 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6553200" y="9688830"/>
            <a:ext cx="50920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>
                <a:solidFill>
                  <a:schemeClr val="bg1"/>
                </a:solidFill>
              </a:rPr>
              <a:t>Plant : P-palayam| Project : SFQA</a:t>
            </a:r>
          </a:p>
        </p:txBody>
      </p:sp>
      <p:pic>
        <p:nvPicPr>
          <p:cNvPr id="5" name="VID_20260716180822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58600" y="274955"/>
            <a:ext cx="5486400" cy="97536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524000" y="1485900"/>
            <a:ext cx="84899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ROI Calculations - OCR part Identification</a:t>
            </a:r>
          </a:p>
        </p:txBody>
      </p:sp>
      <p:graphicFrame>
        <p:nvGraphicFramePr>
          <p:cNvPr id="8" name="Table 7"/>
          <p:cNvGraphicFramePr/>
          <p:nvPr>
            <p:extLst>
              <p:ext uri="{D42A27DB-BD31-4B8C-83A1-F6EECF244321}">
                <p14:modId xmlns:p14="http://schemas.microsoft.com/office/powerpoint/2010/main" val="3408304717"/>
              </p:ext>
            </p:extLst>
          </p:nvPr>
        </p:nvGraphicFramePr>
        <p:xfrm>
          <a:off x="1524000" y="2095500"/>
          <a:ext cx="7915910" cy="7076439"/>
        </p:xfrm>
        <a:graphic>
          <a:graphicData uri="http://schemas.openxmlformats.org/drawingml/2006/table">
            <a:tbl>
              <a:tblPr lastRow="1">
                <a:tableStyleId>{7DF18680-E054-41AD-8BC1-D1AEF772440D}</a:tableStyleId>
              </a:tblPr>
              <a:tblGrid>
                <a:gridCol w="3818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290">
                <a:tc>
                  <a:txBody>
                    <a:bodyPr/>
                    <a:lstStyle/>
                    <a:p>
                      <a:pPr algn="ctr" fontAlgn="ctr"/>
                      <a:r>
                        <a:rPr sz="2000" b="1"/>
                        <a:t>Parameter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/>
                        <a:t>Unit Cost</a:t>
                      </a:r>
                      <a:endParaRPr sz="2000" b="1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0" b="1"/>
                        <a:t>Value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Machines </a:t>
                      </a:r>
                      <a:r>
                        <a:rPr lang="en-US" sz="1600"/>
                        <a:t>Used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1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</a:t>
                      </a:r>
                      <a:r>
                        <a:rPr lang="en-US" sz="1600"/>
                        <a:t>Camera </a:t>
                      </a:r>
                      <a:r>
                        <a:rPr sz="1600"/>
                        <a:t>Used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1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Operators Required per Shift (Current)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8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Operators Required per Day (Current)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8</a:t>
                      </a:r>
                      <a:r>
                        <a:rPr sz="1600"/>
                        <a:t> × </a:t>
                      </a:r>
                      <a:r>
                        <a:rPr lang="en-US" sz="1600"/>
                        <a:t>1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8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Salary per Operator per Month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22,000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Current Monthly Manpower Cost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8</a:t>
                      </a:r>
                      <a:r>
                        <a:rPr sz="1600"/>
                        <a:t> × 22,000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</a:t>
                      </a:r>
                      <a:r>
                        <a:rPr lang="en-US" sz="1600"/>
                        <a:t>1</a:t>
                      </a:r>
                      <a:r>
                        <a:rPr sz="1600"/>
                        <a:t>,</a:t>
                      </a:r>
                      <a:r>
                        <a:rPr lang="en-US" sz="1600"/>
                        <a:t>76</a:t>
                      </a:r>
                      <a:r>
                        <a:rPr sz="1600"/>
                        <a:t>,000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Current Annual Manpower Cost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1</a:t>
                      </a:r>
                      <a:r>
                        <a:rPr sz="1600"/>
                        <a:t>,</a:t>
                      </a:r>
                      <a:r>
                        <a:rPr lang="en-US" sz="1600"/>
                        <a:t>76</a:t>
                      </a:r>
                      <a:r>
                        <a:rPr sz="1600"/>
                        <a:t>,000 × 12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</a:t>
                      </a:r>
                      <a:r>
                        <a:rPr lang="en-US" sz="1600"/>
                        <a:t>21,12</a:t>
                      </a:r>
                      <a:r>
                        <a:rPr sz="1600"/>
                        <a:t>,000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Operators Required After Automation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1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Monthly Manpower Cost After Automation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1</a:t>
                      </a:r>
                      <a:r>
                        <a:rPr sz="1600"/>
                        <a:t> × 22,000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</a:t>
                      </a:r>
                      <a:r>
                        <a:rPr lang="en-US" sz="1600"/>
                        <a:t>22,000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Annual Manpower Cost After Automation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22,000</a:t>
                      </a:r>
                      <a:r>
                        <a:rPr sz="1600"/>
                        <a:t> × 12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</a:t>
                      </a:r>
                      <a:r>
                        <a:rPr lang="en-US" sz="1600"/>
                        <a:t>2,64</a:t>
                      </a:r>
                      <a:r>
                        <a:rPr sz="1600"/>
                        <a:t>,000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Annual Savings Due to Automation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>
                          <a:sym typeface="+mn-ea"/>
                        </a:rPr>
                        <a:t>21,12</a:t>
                      </a:r>
                      <a:r>
                        <a:rPr sz="1600">
                          <a:sym typeface="+mn-ea"/>
                        </a:rPr>
                        <a:t>,000</a:t>
                      </a:r>
                      <a:r>
                        <a:rPr sz="1600"/>
                        <a:t> − </a:t>
                      </a:r>
                      <a:r>
                        <a:rPr lang="en-US" sz="1600">
                          <a:sym typeface="+mn-ea"/>
                        </a:rPr>
                        <a:t>2,64</a:t>
                      </a:r>
                      <a:r>
                        <a:rPr sz="1600">
                          <a:sym typeface="+mn-ea"/>
                        </a:rPr>
                        <a:t>,000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</a:t>
                      </a:r>
                      <a:r>
                        <a:rPr lang="en-US" sz="1600"/>
                        <a:t>18,48,000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Automation Project Cost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</a:t>
                      </a:r>
                      <a:r>
                        <a:rPr lang="en-US" altLang="en-GB" sz="1600" b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7,34,000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 fontAlgn="ctr"/>
                      <a:r>
                        <a:rPr sz="2000" b="1"/>
                        <a:t>ROI Payback Period (Years)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/>
                        <a:t>7,34,000</a:t>
                      </a:r>
                      <a:r>
                        <a:rPr sz="2000" b="1"/>
                        <a:t>÷ </a:t>
                      </a:r>
                      <a:r>
                        <a:rPr lang="en-US" sz="2000" b="1"/>
                        <a:t>18,48,000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/>
                        <a:t>0.39 years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ROI Payback Period (Months)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0.39</a:t>
                      </a:r>
                      <a:r>
                        <a:rPr sz="1600"/>
                        <a:t> × 12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4.68 </a:t>
                      </a:r>
                      <a:r>
                        <a:rPr sz="1600"/>
                        <a:t> Months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Operator Reduction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0</a:t>
                      </a:r>
                      <a:r>
                        <a:rPr lang="en-US" sz="1600"/>
                        <a:t>8</a:t>
                      </a:r>
                      <a:r>
                        <a:rPr sz="1600"/>
                        <a:t> − 0</a:t>
                      </a:r>
                      <a:r>
                        <a:rPr lang="en-US" sz="1600"/>
                        <a:t>1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0</a:t>
                      </a:r>
                      <a:r>
                        <a:rPr lang="en-US" sz="1600"/>
                        <a:t>7</a:t>
                      </a:r>
                      <a:r>
                        <a:rPr sz="1600"/>
                        <a:t> Operators Reduced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Savings After 5 Years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(</a:t>
                      </a:r>
                      <a:r>
                        <a:rPr lang="en-US" sz="1800"/>
                        <a:t>18,48,000</a:t>
                      </a:r>
                      <a:r>
                        <a:rPr sz="1800"/>
                        <a:t> × 5) − </a:t>
                      </a:r>
                      <a:r>
                        <a:rPr lang="en-US" sz="1800"/>
                        <a:t>7,34,000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₹ </a:t>
                      </a:r>
                      <a:r>
                        <a:rPr lang="en-US" sz="1800"/>
                        <a:t>58,66,</a:t>
                      </a:r>
                      <a:r>
                        <a:rPr sz="1800"/>
                        <a:t>000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638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18463" r="-17246" b="-60988"/>
            </a:stretch>
          </a:blipFill>
        </p:spPr>
      </p:sp>
      <p:sp>
        <p:nvSpPr>
          <p:cNvPr id="16" name="Text Box 15"/>
          <p:cNvSpPr txBox="1"/>
          <p:nvPr/>
        </p:nvSpPr>
        <p:spPr>
          <a:xfrm>
            <a:off x="4343400" y="495300"/>
            <a:ext cx="103949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OCR-Based Component Tracking System</a:t>
            </a:r>
            <a:endParaRPr lang="en-US" altLang="en-US" sz="3200" b="1" u="sng" dirty="0">
              <a:solidFill>
                <a:srgbClr val="FFFFFF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pic>
        <p:nvPicPr>
          <p:cNvPr id="7" name="Image 0" descr="/home/claude/machine.jpe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4320" y="1475740"/>
            <a:ext cx="9040495" cy="6972935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274955" y="1475740"/>
            <a:ext cx="9039225" cy="709993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B2A6B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502920" y="6675120"/>
            <a:ext cx="4074160" cy="615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IN" altLang="en-US" sz="1600" b="1" dirty="0">
                <a:solidFill>
                  <a:srgbClr val="111827"/>
                </a:solidFill>
              </a:rPr>
              <a:t>SC30</a:t>
            </a:r>
            <a:r>
              <a:rPr lang="en-US" sz="1600" b="1" dirty="0">
                <a:solidFill>
                  <a:srgbClr val="111827"/>
                </a:solidFill>
              </a:rPr>
              <a:t>00 OCR Camera — reads part number</a:t>
            </a:r>
          </a:p>
        </p:txBody>
      </p:sp>
      <p:sp>
        <p:nvSpPr>
          <p:cNvPr id="12" name="Text 6"/>
          <p:cNvSpPr/>
          <p:nvPr/>
        </p:nvSpPr>
        <p:spPr>
          <a:xfrm>
            <a:off x="502920" y="7086600"/>
            <a:ext cx="4074160" cy="615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827"/>
                </a:solidFill>
              </a:rPr>
              <a:t>MGPL Fixture — holds Oil Pump Sprocket</a:t>
            </a:r>
          </a:p>
        </p:txBody>
      </p:sp>
      <p:sp>
        <p:nvSpPr>
          <p:cNvPr id="14" name="Text 8"/>
          <p:cNvSpPr/>
          <p:nvPr/>
        </p:nvSpPr>
        <p:spPr>
          <a:xfrm>
            <a:off x="502920" y="7498080"/>
            <a:ext cx="4074160" cy="615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827"/>
                </a:solidFill>
              </a:rPr>
              <a:t>Display: 028.027 mm reading confirmed</a:t>
            </a:r>
          </a:p>
        </p:txBody>
      </p:sp>
      <p:sp>
        <p:nvSpPr>
          <p:cNvPr id="32" name="Shape 10"/>
          <p:cNvSpPr/>
          <p:nvPr/>
        </p:nvSpPr>
        <p:spPr>
          <a:xfrm>
            <a:off x="241935" y="8648700"/>
            <a:ext cx="9069705" cy="1026795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5" name="Text 11"/>
          <p:cNvSpPr/>
          <p:nvPr/>
        </p:nvSpPr>
        <p:spPr>
          <a:xfrm>
            <a:off x="292735" y="8648700"/>
            <a:ext cx="9019540" cy="10267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OCR Measurement Station</a:t>
            </a:r>
          </a:p>
        </p:txBody>
      </p:sp>
      <p:sp>
        <p:nvSpPr>
          <p:cNvPr id="36" name="Shape 9"/>
          <p:cNvSpPr/>
          <p:nvPr/>
        </p:nvSpPr>
        <p:spPr>
          <a:xfrm>
            <a:off x="9372600" y="1475740"/>
            <a:ext cx="8706485" cy="709993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A7C4D"/>
            </a:solidFill>
            <a:prstDash val="solid"/>
          </a:ln>
        </p:spPr>
      </p:sp>
      <p:sp>
        <p:nvSpPr>
          <p:cNvPr id="37" name="Shape 12"/>
          <p:cNvSpPr/>
          <p:nvPr/>
        </p:nvSpPr>
        <p:spPr>
          <a:xfrm>
            <a:off x="9372600" y="8651875"/>
            <a:ext cx="8719820" cy="1023620"/>
          </a:xfrm>
          <a:prstGeom prst="rect">
            <a:avLst/>
          </a:prstGeom>
          <a:solidFill>
            <a:srgbClr val="0A7C4D"/>
          </a:solidFill>
          <a:ln w="12700">
            <a:solidFill>
              <a:srgbClr val="0A7C4D"/>
            </a:solidFill>
            <a:prstDash val="solid"/>
          </a:ln>
        </p:spPr>
      </p:sp>
      <p:sp>
        <p:nvSpPr>
          <p:cNvPr id="38" name="Text 13"/>
          <p:cNvSpPr/>
          <p:nvPr/>
        </p:nvSpPr>
        <p:spPr>
          <a:xfrm>
            <a:off x="11201400" y="8877173"/>
            <a:ext cx="4343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Part-Wise Quality Report Dashboard</a:t>
            </a:r>
          </a:p>
        </p:txBody>
      </p:sp>
      <p:pic>
        <p:nvPicPr>
          <p:cNvPr id="40" name="Image 1" descr="/home/claude/report.jpe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386570" y="1790700"/>
            <a:ext cx="8679180" cy="6577965"/>
          </a:xfrm>
          <a:prstGeom prst="rect">
            <a:avLst/>
          </a:prstGeom>
        </p:spPr>
      </p:pic>
      <p:sp>
        <p:nvSpPr>
          <p:cNvPr id="41" name="Text Box 40"/>
          <p:cNvSpPr txBox="1"/>
          <p:nvPr/>
        </p:nvSpPr>
        <p:spPr>
          <a:xfrm>
            <a:off x="16230600" y="9715500"/>
            <a:ext cx="177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 i="1">
                <a:solidFill>
                  <a:schemeClr val="bg1"/>
                </a:solidFill>
              </a:rPr>
              <a:t>P-palayam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463" r="-17246" b="-60988"/>
            </a:stretch>
          </a:blipFill>
        </p:spPr>
      </p:sp>
      <p:sp>
        <p:nvSpPr>
          <p:cNvPr id="3" name="Text Box 2"/>
          <p:cNvSpPr txBox="1"/>
          <p:nvPr/>
        </p:nvSpPr>
        <p:spPr>
          <a:xfrm>
            <a:off x="3515995" y="800100"/>
            <a:ext cx="1120076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OCR-Based Component Tracking System - Before vs After</a:t>
            </a:r>
            <a:endParaRPr lang="en-US" altLang="en-GB" sz="3200" u="sng">
              <a:solidFill>
                <a:schemeClr val="bg1">
                  <a:lumMod val="85000"/>
                </a:schemeClr>
              </a:solidFill>
              <a:latin typeface="Gill Sans MT" panose="020B0802020104020203" charset="0"/>
              <a:cs typeface="Gill Sans MT" panose="020B0802020104020203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05" y="1860550"/>
            <a:ext cx="16578580" cy="7407910"/>
          </a:xfrm>
          <a:prstGeom prst="rect">
            <a:avLst/>
          </a:prstGeom>
        </p:spPr>
      </p:pic>
      <p:sp>
        <p:nvSpPr>
          <p:cNvPr id="35" name="Text Box 34"/>
          <p:cNvSpPr txBox="1"/>
          <p:nvPr/>
        </p:nvSpPr>
        <p:spPr>
          <a:xfrm>
            <a:off x="16230600" y="9639300"/>
            <a:ext cx="177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 i="1">
                <a:solidFill>
                  <a:schemeClr val="bg1"/>
                </a:solidFill>
              </a:rPr>
              <a:t>P-palayam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463" r="-17246" b="-60988"/>
            </a:stretch>
          </a:blipFill>
        </p:spPr>
      </p:sp>
      <p:sp>
        <p:nvSpPr>
          <p:cNvPr id="3" name="Text Box 2"/>
          <p:cNvSpPr txBox="1"/>
          <p:nvPr/>
        </p:nvSpPr>
        <p:spPr>
          <a:xfrm>
            <a:off x="304800" y="571500"/>
            <a:ext cx="175768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Multiguaging Final Inpection - Results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215" y="1866900"/>
            <a:ext cx="9074785" cy="69132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" y="1395095"/>
            <a:ext cx="8968105" cy="82581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553200" y="9688830"/>
            <a:ext cx="50920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>
                <a:solidFill>
                  <a:schemeClr val="bg1"/>
                </a:solidFill>
              </a:rPr>
              <a:t>Plant : P-palayam| Project : SFQA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4"/>
            <a:stretch>
              <a:fillRect l="-18463" r="-17246" b="-60988"/>
            </a:stretch>
          </a:blipFill>
        </p:spPr>
      </p:sp>
      <p:sp>
        <p:nvSpPr>
          <p:cNvPr id="16" name="Text Box 15"/>
          <p:cNvSpPr txBox="1"/>
          <p:nvPr/>
        </p:nvSpPr>
        <p:spPr>
          <a:xfrm>
            <a:off x="838200" y="1333500"/>
            <a:ext cx="103949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>
              <a:buNone/>
            </a:pPr>
            <a:r>
              <a:rPr lang="en-US" sz="32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Keyence Camera-Based Dimensional Measurement</a:t>
            </a:r>
            <a:endParaRPr lang="en-US" altLang="en-US" sz="3200" b="1" u="sng" dirty="0">
              <a:solidFill>
                <a:srgbClr val="FFFFFF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487680" y="3543300"/>
            <a:ext cx="3324860" cy="3617595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8" name="Shape 3"/>
          <p:cNvSpPr/>
          <p:nvPr/>
        </p:nvSpPr>
        <p:spPr>
          <a:xfrm>
            <a:off x="487680" y="3543300"/>
            <a:ext cx="3324860" cy="8001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4"/>
          <p:cNvSpPr/>
          <p:nvPr/>
        </p:nvSpPr>
        <p:spPr>
          <a:xfrm>
            <a:off x="597535" y="3662045"/>
            <a:ext cx="3038475" cy="7029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Gill Sans MT" panose="020B0802020104020203" charset="0"/>
                <a:cs typeface="Gill Sans MT" panose="020B0802020104020203" charset="0"/>
              </a:rPr>
              <a:t>Contact Gauging Limitations</a:t>
            </a:r>
          </a:p>
        </p:txBody>
      </p:sp>
      <p:sp>
        <p:nvSpPr>
          <p:cNvPr id="20" name="Text 5"/>
          <p:cNvSpPr/>
          <p:nvPr/>
        </p:nvSpPr>
        <p:spPr>
          <a:xfrm>
            <a:off x="597535" y="4747260"/>
            <a:ext cx="3038475" cy="24618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Gill Sans MT" panose="020B0802020104020203" charset="0"/>
                <a:cs typeface="Gill Sans MT" panose="020B0802020104020203" charset="0"/>
              </a:rPr>
              <a:t>Traditional contact gauges caused wear, required frequent calibration, and risked surface damage on precision Stellantis sprocket components.</a:t>
            </a:r>
          </a:p>
        </p:txBody>
      </p:sp>
      <p:sp>
        <p:nvSpPr>
          <p:cNvPr id="21" name="Shape 6"/>
          <p:cNvSpPr/>
          <p:nvPr/>
        </p:nvSpPr>
        <p:spPr>
          <a:xfrm>
            <a:off x="3368040" y="3543300"/>
            <a:ext cx="3324860" cy="3617595"/>
          </a:xfrm>
          <a:prstGeom prst="rect">
            <a:avLst/>
          </a:prstGeom>
          <a:solidFill>
            <a:srgbClr val="FEF3C7"/>
          </a:solidFill>
          <a:ln w="19050">
            <a:solidFill>
              <a:srgbClr val="E87722"/>
            </a:solidFill>
            <a:prstDash val="solid"/>
          </a:ln>
        </p:spPr>
      </p:sp>
      <p:sp>
        <p:nvSpPr>
          <p:cNvPr id="22" name="Shape 7"/>
          <p:cNvSpPr/>
          <p:nvPr/>
        </p:nvSpPr>
        <p:spPr>
          <a:xfrm>
            <a:off x="3368040" y="3543300"/>
            <a:ext cx="3324860" cy="8001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3" name="Text 8"/>
          <p:cNvSpPr/>
          <p:nvPr/>
        </p:nvSpPr>
        <p:spPr>
          <a:xfrm>
            <a:off x="3477895" y="3662045"/>
            <a:ext cx="2637155" cy="7029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Gill Sans MT" panose="020B0802020104020203" charset="0"/>
                <a:cs typeface="Gill Sans MT" panose="020B0802020104020203" charset="0"/>
              </a:rPr>
              <a:t>No Simultaneous Multi-Param</a:t>
            </a:r>
          </a:p>
        </p:txBody>
      </p:sp>
      <p:sp>
        <p:nvSpPr>
          <p:cNvPr id="24" name="Text 9"/>
          <p:cNvSpPr/>
          <p:nvPr/>
        </p:nvSpPr>
        <p:spPr>
          <a:xfrm>
            <a:off x="3477895" y="4747260"/>
            <a:ext cx="3038475" cy="24618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Gill Sans MT" panose="020B0802020104020203" charset="0"/>
                <a:cs typeface="Gill Sans MT" panose="020B0802020104020203" charset="0"/>
              </a:rPr>
              <a:t>Root Dia, OD, ID, Total Thickness and Teeth Distance had to be measured separately using different instruments — slow, error-prone, and operator-dependent.</a:t>
            </a:r>
          </a:p>
        </p:txBody>
      </p:sp>
      <p:sp>
        <p:nvSpPr>
          <p:cNvPr id="25" name="Shape 10"/>
          <p:cNvSpPr/>
          <p:nvPr/>
        </p:nvSpPr>
        <p:spPr>
          <a:xfrm>
            <a:off x="6248400" y="3543300"/>
            <a:ext cx="3324860" cy="3617595"/>
          </a:xfrm>
          <a:prstGeom prst="rect">
            <a:avLst/>
          </a:prstGeom>
          <a:solidFill>
            <a:srgbClr val="E0F4F6"/>
          </a:solidFill>
          <a:ln w="19050">
            <a:solidFill>
              <a:srgbClr val="007A8A"/>
            </a:solidFill>
            <a:prstDash val="solid"/>
          </a:ln>
        </p:spPr>
      </p:sp>
      <p:sp>
        <p:nvSpPr>
          <p:cNvPr id="26" name="Shape 11"/>
          <p:cNvSpPr/>
          <p:nvPr/>
        </p:nvSpPr>
        <p:spPr>
          <a:xfrm>
            <a:off x="6248400" y="3543300"/>
            <a:ext cx="3324860" cy="8001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27" name="Text 12"/>
          <p:cNvSpPr/>
          <p:nvPr/>
        </p:nvSpPr>
        <p:spPr>
          <a:xfrm>
            <a:off x="6358255" y="3662045"/>
            <a:ext cx="3038475" cy="7029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Gill Sans MT" panose="020B0802020104020203" charset="0"/>
                <a:cs typeface="Gill Sans MT" panose="020B0802020104020203" charset="0"/>
              </a:rPr>
              <a:t>Manual Measurement Variation</a:t>
            </a:r>
          </a:p>
        </p:txBody>
      </p:sp>
      <p:sp>
        <p:nvSpPr>
          <p:cNvPr id="28" name="Text 13"/>
          <p:cNvSpPr/>
          <p:nvPr/>
        </p:nvSpPr>
        <p:spPr>
          <a:xfrm>
            <a:off x="6358255" y="4747260"/>
            <a:ext cx="3038475" cy="24618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Gill Sans MT" panose="020B0802020104020203" charset="0"/>
                <a:cs typeface="Gill Sans MT" panose="020B0802020104020203" charset="0"/>
              </a:rPr>
              <a:t>Operator-to-operator variation in measurements led to inconsistent quality records and false accept/reject decisions.</a:t>
            </a:r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523875" y="4457700"/>
            <a:ext cx="28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3347085" y="4457700"/>
            <a:ext cx="288000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6226810" y="4457700"/>
            <a:ext cx="3312000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Text Box 32"/>
          <p:cNvSpPr txBox="1"/>
          <p:nvPr/>
        </p:nvSpPr>
        <p:spPr>
          <a:xfrm>
            <a:off x="-76200" y="2857500"/>
            <a:ext cx="103949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Problem Statement</a:t>
            </a:r>
            <a:endParaRPr lang="en-US" altLang="en-US" sz="2800" b="1" dirty="0">
              <a:solidFill>
                <a:srgbClr val="FFFFFF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8686800" y="1333500"/>
            <a:ext cx="103949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Solution</a:t>
            </a:r>
            <a:endParaRPr lang="en-US" altLang="en-US" sz="2800" b="1" dirty="0">
              <a:solidFill>
                <a:srgbClr val="FFFFFF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16230600" y="9639300"/>
            <a:ext cx="177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 i="1">
                <a:solidFill>
                  <a:schemeClr val="bg1"/>
                </a:solidFill>
              </a:rPr>
              <a:t>P-palayam</a:t>
            </a:r>
          </a:p>
        </p:txBody>
      </p:sp>
      <p:sp>
        <p:nvSpPr>
          <p:cNvPr id="36" name="Oval 35"/>
          <p:cNvSpPr/>
          <p:nvPr/>
        </p:nvSpPr>
        <p:spPr>
          <a:xfrm>
            <a:off x="381000" y="2667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3600" b="1"/>
              <a:t>2</a:t>
            </a:r>
          </a:p>
        </p:txBody>
      </p:sp>
      <p:pic>
        <p:nvPicPr>
          <p:cNvPr id="3" name="laser measurement - stelantis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254865" y="2019300"/>
            <a:ext cx="3898900" cy="721169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16078200" y="342900"/>
            <a:ext cx="17526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GB">
                <a:hlinkClick r:id="rId6" action="ppaction://hlinksldjump"/>
              </a:rPr>
              <a:t>Home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003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635"/>
            <a:ext cx="18288000" cy="1032573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463" r="-17246" b="-60988"/>
            </a:stretch>
          </a:blipFill>
        </p:spPr>
      </p:sp>
      <p:sp>
        <p:nvSpPr>
          <p:cNvPr id="3" name="Text Box 2"/>
          <p:cNvSpPr txBox="1"/>
          <p:nvPr/>
        </p:nvSpPr>
        <p:spPr>
          <a:xfrm>
            <a:off x="304800" y="876300"/>
            <a:ext cx="175768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ROI Calculations - Part Measurement project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6553200" y="9688830"/>
            <a:ext cx="50920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>
                <a:solidFill>
                  <a:schemeClr val="bg1"/>
                </a:solidFill>
              </a:rPr>
              <a:t>Plant : P-palayam| Project : SFQA</a:t>
            </a:r>
          </a:p>
        </p:txBody>
      </p:sp>
      <p:graphicFrame>
        <p:nvGraphicFramePr>
          <p:cNvPr id="5" name="Table 4"/>
          <p:cNvGraphicFramePr/>
          <p:nvPr/>
        </p:nvGraphicFramePr>
        <p:xfrm>
          <a:off x="3581400" y="1756410"/>
          <a:ext cx="10299700" cy="7625715"/>
        </p:xfrm>
        <a:graphic>
          <a:graphicData uri="http://schemas.openxmlformats.org/drawingml/2006/table">
            <a:tbl>
              <a:tblPr/>
              <a:tblGrid>
                <a:gridCol w="498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2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755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Parameter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Calculation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Value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Total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Gauges used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5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Total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Camera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Used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08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Operators Required per Shift (Current)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5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Total Shifts per Day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3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Total Operators Required per Day (Current)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×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5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Salary per Operator per Month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₹ 22,000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27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Current Monthly Manpower Cost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× 22,000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1,10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Current Annual Manpower Cost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1,10,000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× 12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13,20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Operators Required After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OCR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Monthly Manpower Cost After Automation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× 22,000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22,000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Annual Manpower Cost After Automation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22,000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× 12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2,64,000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211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Annual Savings Due to Automation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13,20,000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−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2,64,000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6,000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Total Automation Project Cost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₹ 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</a:t>
                      </a:r>
                      <a:r>
                        <a:rPr lang="en-US" alt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2,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23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ROI Payback Period (Years)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12</a:t>
                      </a:r>
                      <a:r>
                        <a:rPr lang="en-US" altLang="en-IN" sz="18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,2</a:t>
                      </a:r>
                      <a:r>
                        <a:rPr lang="en-IN" sz="18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3</a:t>
                      </a:r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,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0</a:t>
                      </a:r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00 ÷ 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10,56,000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1.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15</a:t>
                      </a:r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Years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4069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ROI Payback Period (Months)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1.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× 12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3</a:t>
                      </a:r>
                      <a:r>
                        <a:rPr lang="en-US" alt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.8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Months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2451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Operator Reduction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−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0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4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Operators Reduced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Savings After 5 Years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(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 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10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,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5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6,000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 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× 5) − 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12</a:t>
                      </a:r>
                      <a:r>
                        <a:rPr lang="en-US" alt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,2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3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40,57,000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463" r="-17246" b="-60988"/>
            </a:stretch>
          </a:blipFill>
        </p:spPr>
      </p:sp>
      <p:sp>
        <p:nvSpPr>
          <p:cNvPr id="3" name="Text Box 2"/>
          <p:cNvSpPr txBox="1"/>
          <p:nvPr/>
        </p:nvSpPr>
        <p:spPr>
          <a:xfrm>
            <a:off x="2463800" y="760095"/>
            <a:ext cx="1309751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 algn="l">
              <a:buNone/>
            </a:pPr>
            <a:r>
              <a:rPr lang="en-US" sz="32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Keyence Camera-Based Dimensional Measurement - Before vs After</a:t>
            </a:r>
            <a:endParaRPr lang="en-US" altLang="en-GB" sz="3200" u="sng">
              <a:solidFill>
                <a:schemeClr val="bg1">
                  <a:lumMod val="85000"/>
                </a:schemeClr>
              </a:solidFill>
              <a:latin typeface="Gill Sans MT" panose="020B0802020104020203" charset="0"/>
              <a:cs typeface="Gill Sans MT" panose="020B0802020104020203" charset="0"/>
            </a:endParaRPr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790700"/>
            <a:ext cx="16147415" cy="7687310"/>
          </a:xfrm>
          <a:prstGeom prst="rect">
            <a:avLst/>
          </a:prstGeom>
        </p:spPr>
      </p:pic>
      <p:sp>
        <p:nvSpPr>
          <p:cNvPr id="78" name="Text Box 77"/>
          <p:cNvSpPr txBox="1"/>
          <p:nvPr/>
        </p:nvSpPr>
        <p:spPr>
          <a:xfrm>
            <a:off x="16230600" y="9639300"/>
            <a:ext cx="177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 i="1">
                <a:solidFill>
                  <a:schemeClr val="bg1"/>
                </a:solidFill>
              </a:rPr>
              <a:t>P-palayam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463" r="-17246" b="-60988"/>
            </a:stretch>
          </a:blipFill>
        </p:spPr>
      </p:sp>
      <p:sp>
        <p:nvSpPr>
          <p:cNvPr id="3" name="Text Box 2"/>
          <p:cNvSpPr txBox="1"/>
          <p:nvPr/>
        </p:nvSpPr>
        <p:spPr>
          <a:xfrm>
            <a:off x="3816350" y="800100"/>
            <a:ext cx="1080897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MPI Crack Detection Automation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rcRect b="6804"/>
          <a:stretch>
            <a:fillRect/>
          </a:stretch>
        </p:blipFill>
        <p:spPr>
          <a:xfrm>
            <a:off x="2206625" y="1774825"/>
            <a:ext cx="13574395" cy="7797165"/>
          </a:xfrm>
          <a:prstGeom prst="rect">
            <a:avLst/>
          </a:prstGeom>
        </p:spPr>
      </p:pic>
      <p:sp>
        <p:nvSpPr>
          <p:cNvPr id="42" name="Text Box 41"/>
          <p:cNvSpPr txBox="1"/>
          <p:nvPr/>
        </p:nvSpPr>
        <p:spPr>
          <a:xfrm>
            <a:off x="16230600" y="9639300"/>
            <a:ext cx="177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 i="1">
                <a:solidFill>
                  <a:schemeClr val="bg1"/>
                </a:solidFill>
              </a:rPr>
              <a:t>P-palayam</a:t>
            </a:r>
          </a:p>
        </p:txBody>
      </p:sp>
      <p:sp>
        <p:nvSpPr>
          <p:cNvPr id="9" name="Oval 8"/>
          <p:cNvSpPr/>
          <p:nvPr/>
        </p:nvSpPr>
        <p:spPr>
          <a:xfrm>
            <a:off x="381000" y="2667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3600" b="1"/>
              <a:t>3</a:t>
            </a:r>
          </a:p>
        </p:txBody>
      </p:sp>
      <p:sp>
        <p:nvSpPr>
          <p:cNvPr id="5" name="Rectangles 4"/>
          <p:cNvSpPr/>
          <p:nvPr/>
        </p:nvSpPr>
        <p:spPr>
          <a:xfrm>
            <a:off x="15925800" y="419100"/>
            <a:ext cx="17526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GB">
                <a:hlinkClick r:id="rId4" action="ppaction://hlinksldjump"/>
              </a:rPr>
              <a:t>Home</a:t>
            </a:r>
            <a:endParaRPr lang="en-US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463" r="-17246" b="-60988"/>
            </a:stretch>
          </a:blipFill>
        </p:spPr>
      </p:sp>
      <p:sp>
        <p:nvSpPr>
          <p:cNvPr id="3" name="Text Box 2"/>
          <p:cNvSpPr txBox="1"/>
          <p:nvPr/>
        </p:nvSpPr>
        <p:spPr>
          <a:xfrm>
            <a:off x="3816350" y="876300"/>
            <a:ext cx="1080897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MPI Crack Detection Automation - ROI calculation</a:t>
            </a:r>
          </a:p>
        </p:txBody>
      </p:sp>
      <p:sp>
        <p:nvSpPr>
          <p:cNvPr id="42" name="Text Box 41"/>
          <p:cNvSpPr txBox="1"/>
          <p:nvPr/>
        </p:nvSpPr>
        <p:spPr>
          <a:xfrm>
            <a:off x="16230600" y="9639300"/>
            <a:ext cx="177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 i="1">
                <a:solidFill>
                  <a:schemeClr val="bg1"/>
                </a:solidFill>
              </a:rPr>
              <a:t>P-palayam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3581400" y="1756410"/>
          <a:ext cx="10299700" cy="7625715"/>
        </p:xfrm>
        <a:graphic>
          <a:graphicData uri="http://schemas.openxmlformats.org/drawingml/2006/table">
            <a:tbl>
              <a:tblPr/>
              <a:tblGrid>
                <a:gridCol w="498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2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755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Parameter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Calculation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Value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Total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System used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Total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Camera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Used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08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Operators Required per Shift (Current)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2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Total Shifts per Day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3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Total Operators Required per Day (Current)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×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3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6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Salary per Operator per Month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₹ 22,000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27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Current Monthly Manpower Cost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× 22,000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1,32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Current Annual Manpower Cost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1,32,000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× 12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15,84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6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Operators Required After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OCR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Monthly Manpower Cost After Automation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× 22,000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22,000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Annual Manpower Cost After Automation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22,000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× 12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2,64,000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211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Annual Savings Due to Automation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15,84,000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−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2,64,000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13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20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,000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Total Automation Project Cost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₹ </a:t>
                      </a:r>
                      <a:r>
                        <a:rPr lang="en-US" altLang="en-GB" sz="1600" b="1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8,25,560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ROI Payback Period (Years)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GB" sz="1800" b="1"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8,25,560</a:t>
                      </a:r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÷ 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13</a:t>
                      </a:r>
                      <a:r>
                        <a:rPr sz="1800" b="1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,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20</a:t>
                      </a:r>
                      <a:r>
                        <a:rPr sz="1800" b="1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,000</a:t>
                      </a:r>
                      <a:endParaRPr lang="en-US" sz="18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0.625</a:t>
                      </a:r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Years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4069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ROI Payback Period (Months)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0.625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× 12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7.5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Months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2451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Operator Reduction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−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3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0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3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 Operators Reduced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Savings After 5 Years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(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 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13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,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20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,000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 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×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) −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8,25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,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56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₹ 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</a:rPr>
                        <a:t>57,74,440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18463" r="-17246" b="-60988"/>
            </a:stretch>
          </a:blipFill>
        </p:spPr>
      </p:sp>
      <p:sp>
        <p:nvSpPr>
          <p:cNvPr id="5" name="Text Box 4"/>
          <p:cNvSpPr txBox="1"/>
          <p:nvPr/>
        </p:nvSpPr>
        <p:spPr>
          <a:xfrm>
            <a:off x="4173855" y="829945"/>
            <a:ext cx="1178877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>
              <a:buNone/>
            </a:pPr>
            <a:r>
              <a:rPr lang="en-US" sz="28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MPI Crack Detection Automation - LIVE AURONIQ SCREENS</a:t>
            </a:r>
            <a:endParaRPr lang="en-US" sz="2800" u="sng" dirty="0">
              <a:latin typeface="Gill Sans MT" panose="020B0802020104020203" charset="0"/>
              <a:cs typeface="Gill Sans MT" panose="020B0802020104020203" charset="0"/>
            </a:endParaRPr>
          </a:p>
          <a:p>
            <a:pPr marL="0" indent="0" algn="l">
              <a:buNone/>
            </a:pPr>
            <a:endParaRPr lang="en-US" altLang="en-GB" sz="2800" u="sng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714500"/>
            <a:ext cx="18060035" cy="7114540"/>
          </a:xfrm>
          <a:prstGeom prst="rect">
            <a:avLst/>
          </a:prstGeom>
        </p:spPr>
      </p:pic>
      <p:sp>
        <p:nvSpPr>
          <p:cNvPr id="35" name="Text Box 34"/>
          <p:cNvSpPr txBox="1"/>
          <p:nvPr/>
        </p:nvSpPr>
        <p:spPr>
          <a:xfrm>
            <a:off x="16230600" y="9639300"/>
            <a:ext cx="177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 i="1">
                <a:solidFill>
                  <a:schemeClr val="bg1"/>
                </a:solidFill>
              </a:rPr>
              <a:t>P-palayam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463" r="-17246" b="-60988"/>
            </a:stretch>
          </a:blipFill>
        </p:spPr>
      </p:sp>
      <p:sp>
        <p:nvSpPr>
          <p:cNvPr id="3" name="Text Box 2"/>
          <p:cNvSpPr txBox="1"/>
          <p:nvPr/>
        </p:nvSpPr>
        <p:spPr>
          <a:xfrm>
            <a:off x="354965" y="952500"/>
            <a:ext cx="175768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>
              <a:buNone/>
            </a:pPr>
            <a:r>
              <a:rPr lang="en-US" sz="32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MPI Crack Detection Automation - ANALYTICS DASHBOARD &amp; INSPECTION REPORT</a:t>
            </a:r>
            <a:endParaRPr lang="en-US" sz="3200" u="sng" dirty="0">
              <a:latin typeface="Gill Sans MT" panose="020B0802020104020203" charset="0"/>
              <a:cs typeface="Gill Sans MT" panose="020B0802020104020203" charset="0"/>
            </a:endParaRPr>
          </a:p>
          <a:p>
            <a:pPr marL="0" indent="0" algn="l">
              <a:buNone/>
            </a:pPr>
            <a:endParaRPr lang="en-US" sz="3200" b="1" u="sng" dirty="0">
              <a:solidFill>
                <a:srgbClr val="FFFFFF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66900"/>
            <a:ext cx="16610330" cy="7487920"/>
          </a:xfrm>
          <a:prstGeom prst="rect">
            <a:avLst/>
          </a:prstGeom>
        </p:spPr>
      </p:pic>
      <p:sp>
        <p:nvSpPr>
          <p:cNvPr id="35" name="Text Box 34"/>
          <p:cNvSpPr txBox="1"/>
          <p:nvPr/>
        </p:nvSpPr>
        <p:spPr>
          <a:xfrm>
            <a:off x="16230600" y="9639300"/>
            <a:ext cx="177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 i="1">
                <a:solidFill>
                  <a:schemeClr val="bg1"/>
                </a:solidFill>
              </a:rPr>
              <a:t>P-palayam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4"/>
            <a:stretch>
              <a:fillRect l="-18463" r="-17246" b="-60988"/>
            </a:stretch>
          </a:blipFill>
        </p:spPr>
      </p:sp>
      <p:sp>
        <p:nvSpPr>
          <p:cNvPr id="3" name="Text Box 2"/>
          <p:cNvSpPr txBox="1"/>
          <p:nvPr/>
        </p:nvSpPr>
        <p:spPr>
          <a:xfrm>
            <a:off x="354965" y="800100"/>
            <a:ext cx="175768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MPI Crack Detection Automation - Solution &amp; Results</a:t>
            </a:r>
            <a:endParaRPr lang="en-US" sz="3200" u="sng" dirty="0">
              <a:latin typeface="Gill Sans MT" panose="020B0802020104020203" charset="0"/>
              <a:cs typeface="Gill Sans MT" panose="020B0802020104020203" charset="0"/>
            </a:endParaRPr>
          </a:p>
          <a:p>
            <a:pPr marL="0" indent="0" algn="l">
              <a:buNone/>
            </a:pPr>
            <a:endParaRPr lang="en-US" sz="3200" b="1" u="sng" dirty="0">
              <a:solidFill>
                <a:srgbClr val="FFFFFF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16230600" y="9639300"/>
            <a:ext cx="177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 i="1">
                <a:solidFill>
                  <a:schemeClr val="bg1"/>
                </a:solidFill>
              </a:rPr>
              <a:t>P-palayam</a:t>
            </a:r>
          </a:p>
        </p:txBody>
      </p:sp>
      <p:pic>
        <p:nvPicPr>
          <p:cNvPr id="4" name="vision inspection system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287000" y="1714500"/>
            <a:ext cx="4572000" cy="8229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0" y="2552700"/>
            <a:ext cx="7489825" cy="5873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54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18463" r="-17246" b="-60988"/>
            </a:stretch>
          </a:blipFill>
        </p:spPr>
      </p:sp>
      <p:sp>
        <p:nvSpPr>
          <p:cNvPr id="5" name="Text Box 4"/>
          <p:cNvSpPr txBox="1"/>
          <p:nvPr/>
        </p:nvSpPr>
        <p:spPr>
          <a:xfrm>
            <a:off x="4173855" y="829945"/>
            <a:ext cx="1178877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>
              <a:buNone/>
            </a:pPr>
            <a:r>
              <a:rPr lang="en-US" sz="2800" b="1" u="sng" dirty="0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MPI Crack Detection Automation - LIVE AURONIQ SCREENS</a:t>
            </a:r>
            <a:endParaRPr lang="en-US" sz="2800" u="sng" dirty="0">
              <a:latin typeface="Gill Sans MT" panose="020B0802020104020203" charset="0"/>
              <a:cs typeface="Gill Sans MT" panose="020B0802020104020203" charset="0"/>
            </a:endParaRPr>
          </a:p>
          <a:p>
            <a:pPr marL="0" indent="0" algn="l">
              <a:buNone/>
            </a:pPr>
            <a:endParaRPr lang="en-US" altLang="en-GB" sz="2800" u="sng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1861820"/>
            <a:ext cx="15499080" cy="73787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553200" y="9688830"/>
            <a:ext cx="50920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>
                <a:solidFill>
                  <a:schemeClr val="bg1"/>
                </a:solidFill>
              </a:rPr>
              <a:t>Plant : P-palayam| Project : SFQA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374770">
            <a:off x="-1666180" y="6478089"/>
            <a:ext cx="20251759" cy="18180272"/>
            <a:chOff x="0" y="0"/>
            <a:chExt cx="5333797" cy="47882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33797" cy="4788220"/>
            </a:xfrm>
            <a:custGeom>
              <a:avLst/>
              <a:gdLst/>
              <a:ahLst/>
              <a:cxnLst/>
              <a:rect l="l" t="t" r="r" b="b"/>
              <a:pathLst>
                <a:path w="5333797" h="4788220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1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5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080871" y="4001801"/>
            <a:ext cx="14126257" cy="1904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0"/>
              </a:lnSpc>
            </a:pPr>
            <a:r>
              <a:rPr lang="en-US" sz="14280" b="1" spc="-599">
                <a:solidFill>
                  <a:srgbClr val="FFFFFF"/>
                </a:solidFill>
                <a:latin typeface="Arial MT Pro Bold" panose="020B0802020202020204"/>
                <a:ea typeface="Arial MT Pro Bold" panose="020B0802020202020204"/>
                <a:cs typeface="Arial MT Pro Bold" panose="020B0802020202020204"/>
                <a:sym typeface="Arial MT Pro Bold" panose="020B0802020202020204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4416</Words>
  <Application>Microsoft Office PowerPoint</Application>
  <PresentationFormat>Custom</PresentationFormat>
  <Paragraphs>454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Green Modern Finance Business Report Presentation</dc:title>
  <dc:creator/>
  <cp:lastModifiedBy>rithani</cp:lastModifiedBy>
  <cp:revision>42</cp:revision>
  <dcterms:created xsi:type="dcterms:W3CDTF">2006-08-16T00:00:00Z</dcterms:created>
  <dcterms:modified xsi:type="dcterms:W3CDTF">2026-07-18T05:08:37Z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0CD3D928BA6A48C9B8CCDBB0A5B024EE</vt:lpwstr>
  </property>
  <property fmtid="{D5CDD505-2E9C-101B-9397-08002B2CF9AE}" pid="3" name="KSOProductBuildVer">
    <vt:lpwstr>1033-11.2.0.10463</vt:lpwstr>
  </property>
</Properties>
</file>
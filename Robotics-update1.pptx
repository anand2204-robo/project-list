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3"/>
    <p:sldId id="331" r:id="rId4"/>
    <p:sldId id="591" r:id="rId5"/>
    <p:sldId id="611" r:id="rId7"/>
    <p:sldId id="308" r:id="rId8"/>
    <p:sldId id="562" r:id="rId9"/>
    <p:sldId id="313" r:id="rId10"/>
    <p:sldId id="577" r:id="rId11"/>
    <p:sldId id="559" r:id="rId12"/>
    <p:sldId id="321" r:id="rId13"/>
    <p:sldId id="328" r:id="rId14"/>
    <p:sldId id="561" r:id="rId15"/>
    <p:sldId id="565" r:id="rId16"/>
    <p:sldId id="563" r:id="rId17"/>
    <p:sldId id="566" r:id="rId18"/>
    <p:sldId id="569" r:id="rId19"/>
    <p:sldId id="570" r:id="rId20"/>
    <p:sldId id="564" r:id="rId21"/>
    <p:sldId id="567" r:id="rId22"/>
    <p:sldId id="568" r:id="rId23"/>
    <p:sldId id="609" r:id="rId24"/>
    <p:sldId id="560" r:id="rId25"/>
  </p:sldIdLst>
  <p:sldSz cx="18288000" cy="10287000"/>
  <p:notesSz cx="6858000" cy="9144000"/>
  <p:embeddedFontLst>
    <p:embeddedFont>
      <p:font typeface="Gill Sans MT" panose="020B0802020104020203" charset="0"/>
      <p:bold r:id="rId29"/>
    </p:embeddedFont>
    <p:embeddedFont>
      <p:font typeface="Calibri" panose="020F0502020204030204"/>
      <p:regular r:id="rId30"/>
      <p:bold r:id="rId31"/>
      <p:italic r:id="rId32"/>
      <p:boldItalic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Cambria" panose="02040503050406030204" charset="0"/>
      <p:regular r:id="rId38"/>
      <p:bold r:id="rId39"/>
      <p:italic r:id="rId40"/>
      <p:boldItalic r:id="rId41"/>
    </p:embeddedFont>
    <p:embeddedFont>
      <p:font typeface="Gill Sans MT" panose="020B0802020104020203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>
        <p:guide orient="horz" pos="2280"/>
        <p:guide pos="2867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2" Type="http://schemas.openxmlformats.org/officeDocument/2006/relationships/font" Target="fonts/font14.fntdata"/><Relationship Id="rId41" Type="http://schemas.openxmlformats.org/officeDocument/2006/relationships/font" Target="fonts/font13.fntdata"/><Relationship Id="rId40" Type="http://schemas.openxmlformats.org/officeDocument/2006/relationships/font" Target="fonts/font12.fntdata"/><Relationship Id="rId4" Type="http://schemas.openxmlformats.org/officeDocument/2006/relationships/slide" Target="slides/slide2.xml"/><Relationship Id="rId39" Type="http://schemas.openxmlformats.org/officeDocument/2006/relationships/font" Target="fonts/font11.fntdata"/><Relationship Id="rId38" Type="http://schemas.openxmlformats.org/officeDocument/2006/relationships/font" Target="fonts/font10.fntdata"/><Relationship Id="rId37" Type="http://schemas.openxmlformats.org/officeDocument/2006/relationships/font" Target="fonts/font9.fntdata"/><Relationship Id="rId36" Type="http://schemas.openxmlformats.org/officeDocument/2006/relationships/font" Target="fonts/font8.fntdata"/><Relationship Id="rId35" Type="http://schemas.openxmlformats.org/officeDocument/2006/relationships/font" Target="fonts/font7.fntdata"/><Relationship Id="rId34" Type="http://schemas.openxmlformats.org/officeDocument/2006/relationships/font" Target="fonts/font6.fntdata"/><Relationship Id="rId33" Type="http://schemas.openxmlformats.org/officeDocument/2006/relationships/font" Target="fonts/font5.fntdata"/><Relationship Id="rId32" Type="http://schemas.openxmlformats.org/officeDocument/2006/relationships/font" Target="fonts/font4.fntdata"/><Relationship Id="rId31" Type="http://schemas.openxmlformats.org/officeDocument/2006/relationships/font" Target="fonts/font3.fntdata"/><Relationship Id="rId30" Type="http://schemas.openxmlformats.org/officeDocument/2006/relationships/font" Target="fonts/font2.fntdata"/><Relationship Id="rId3" Type="http://schemas.openxmlformats.org/officeDocument/2006/relationships/slide" Target="slides/slide1.xml"/><Relationship Id="rId29" Type="http://schemas.openxmlformats.org/officeDocument/2006/relationships/font" Target="fonts/font1.fntdata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F2D4-196E-414A-9F18-EE7D7FBEF11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C32F-66EE-4890-B6E1-E6970C17DF9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71C36-4454-46AB-B95D-D21DCF79D0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39CB8-445F-4531-AE76-18E8095E727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42329-7C0A-4ACF-995C-8BD7D2CF376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DD01-3EE8-4662-9538-E099CF1045B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FC79-76DC-47DA-B5DE-BC5E4ED359E0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1428-DD3D-4A06-BF0A-1FBA3F4B0F8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D9DC-EA83-48D9-9D22-C7DA51B33CD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4CB58-78F2-439F-85B1-1DB2F407789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660BF-5EFF-4ED5-9FFC-D12C73ACA9F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78782-6471-409A-A9C2-238BA5527E1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18.06.2026 Review Q1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3.xml"/><Relationship Id="rId3" Type="http://schemas.openxmlformats.org/officeDocument/2006/relationships/slide" Target="slide10.xml"/><Relationship Id="rId2" Type="http://schemas.openxmlformats.org/officeDocument/2006/relationships/slide" Target="slide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7236" t="-21857" r="-7540" b="-1429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85190" y="2145030"/>
            <a:ext cx="16251555" cy="3594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600" b="1" spc="-126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ill Sans MT" panose="020B0802020104020203" charset="0"/>
                <a:ea typeface="Garet Bold"/>
                <a:cs typeface="Gill Sans MT" panose="020B0802020104020203" charset="0"/>
                <a:sym typeface="Garet Bold"/>
              </a:rPr>
              <a:t>Robotics &amp; Automation Projects</a:t>
            </a:r>
            <a:endParaRPr lang="en-US" sz="14600" b="1" spc="-1261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latin typeface="Gill Sans MT" panose="020B0802020104020203" charset="0"/>
              <a:ea typeface="Garet Bold"/>
              <a:cs typeface="Gill Sans MT" panose="020B0802020104020203" charset="0"/>
              <a:sym typeface="Gare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411075" y="8491220"/>
            <a:ext cx="5114925" cy="798195"/>
            <a:chOff x="0" y="0"/>
            <a:chExt cx="1809815" cy="2864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09815" cy="286444"/>
            </a:xfrm>
            <a:custGeom>
              <a:avLst/>
              <a:gdLst/>
              <a:ahLst/>
              <a:cxnLst/>
              <a:rect l="l" t="t" r="r" b="b"/>
              <a:pathLst>
                <a:path w="1809815" h="286444">
                  <a:moveTo>
                    <a:pt x="105391" y="0"/>
                  </a:moveTo>
                  <a:lnTo>
                    <a:pt x="1704425" y="0"/>
                  </a:lnTo>
                  <a:cubicBezTo>
                    <a:pt x="1732376" y="0"/>
                    <a:pt x="1759183" y="11104"/>
                    <a:pt x="1778947" y="30868"/>
                  </a:cubicBezTo>
                  <a:cubicBezTo>
                    <a:pt x="1798712" y="50633"/>
                    <a:pt x="1809815" y="77439"/>
                    <a:pt x="1809815" y="105391"/>
                  </a:cubicBezTo>
                  <a:lnTo>
                    <a:pt x="1809815" y="181054"/>
                  </a:lnTo>
                  <a:cubicBezTo>
                    <a:pt x="1809815" y="209005"/>
                    <a:pt x="1798712" y="235812"/>
                    <a:pt x="1778947" y="255576"/>
                  </a:cubicBezTo>
                  <a:cubicBezTo>
                    <a:pt x="1759183" y="275341"/>
                    <a:pt x="1732376" y="286444"/>
                    <a:pt x="1704425" y="286444"/>
                  </a:cubicBezTo>
                  <a:lnTo>
                    <a:pt x="105391" y="286444"/>
                  </a:lnTo>
                  <a:cubicBezTo>
                    <a:pt x="77439" y="286444"/>
                    <a:pt x="50633" y="275341"/>
                    <a:pt x="30868" y="255576"/>
                  </a:cubicBezTo>
                  <a:cubicBezTo>
                    <a:pt x="11104" y="235812"/>
                    <a:pt x="0" y="209005"/>
                    <a:pt x="0" y="181054"/>
                  </a:cubicBezTo>
                  <a:lnTo>
                    <a:pt x="0" y="105391"/>
                  </a:lnTo>
                  <a:cubicBezTo>
                    <a:pt x="0" y="77439"/>
                    <a:pt x="11104" y="50633"/>
                    <a:pt x="30868" y="30868"/>
                  </a:cubicBezTo>
                  <a:cubicBezTo>
                    <a:pt x="50633" y="11104"/>
                    <a:pt x="77439" y="0"/>
                    <a:pt x="105391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809815" cy="324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5841662"/>
            <a:ext cx="379967" cy="313359"/>
          </a:xfrm>
          <a:custGeom>
            <a:avLst/>
            <a:gdLst/>
            <a:ahLst/>
            <a:cxnLst/>
            <a:rect l="l" t="t" r="r" b="b"/>
            <a:pathLst>
              <a:path w="379967" h="313359">
                <a:moveTo>
                  <a:pt x="0" y="0"/>
                </a:moveTo>
                <a:lnTo>
                  <a:pt x="379967" y="0"/>
                </a:lnTo>
                <a:lnTo>
                  <a:pt x="379967" y="313360"/>
                </a:lnTo>
                <a:lnTo>
                  <a:pt x="0" y="313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2410986" y="8718231"/>
            <a:ext cx="4848314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0"/>
              </a:lnSpc>
            </a:pPr>
            <a:r>
              <a:rPr lang="en-US" sz="3255" spc="-195">
                <a:solidFill>
                  <a:srgbClr val="86B9F5"/>
                </a:solidFill>
                <a:latin typeface="Gill Sans MT" panose="020B0802020104020203" charset="0"/>
                <a:ea typeface="Garet"/>
                <a:cs typeface="Gill Sans MT" panose="020B0802020104020203" charset="0"/>
                <a:sym typeface="Garet"/>
              </a:rPr>
              <a:t>Sujith </a:t>
            </a:r>
            <a:r>
              <a:rPr lang="en-US" sz="3255" spc="-195" err="1">
                <a:solidFill>
                  <a:srgbClr val="86B9F5"/>
                </a:solidFill>
                <a:latin typeface="Gill Sans MT" panose="020B0802020104020203" charset="0"/>
                <a:ea typeface="Garet"/>
                <a:cs typeface="Gill Sans MT" panose="020B0802020104020203" charset="0"/>
                <a:sym typeface="Garet"/>
              </a:rPr>
              <a:t>Muraleedaran</a:t>
            </a:r>
            <a:endParaRPr lang="en-US" sz="3255" spc="-195">
              <a:solidFill>
                <a:srgbClr val="86B9F5"/>
              </a:solidFill>
              <a:latin typeface="Gill Sans MT" panose="020B0802020104020203" charset="0"/>
              <a:ea typeface="Garet"/>
              <a:cs typeface="Gill Sans MT" panose="020B0802020104020203" charset="0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06499" y="5908337"/>
            <a:ext cx="3737193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2800" b="1" i="1" spc="-98">
                <a:solidFill>
                  <a:srgbClr val="86B9F5"/>
                </a:solidFill>
                <a:latin typeface="Gill Sans MT" panose="020B0802020104020203" charset="0"/>
                <a:ea typeface="Open Sauce Medium" panose="00000600000000000000"/>
                <a:cs typeface="Gill Sans MT" panose="020B0802020104020203" charset="0"/>
                <a:sym typeface="Open Sauce Medium" panose="00000600000000000000"/>
              </a:rPr>
              <a:t>Operations Technology</a:t>
            </a:r>
            <a:endParaRPr lang="en-US" sz="2800" b="1" i="1" spc="-98">
              <a:solidFill>
                <a:srgbClr val="86B9F5"/>
              </a:solidFill>
              <a:latin typeface="Gill Sans MT" panose="020B0802020104020203" charset="0"/>
              <a:ea typeface="Open Sauce Medium" panose="00000600000000000000"/>
              <a:cs typeface="Gill Sans MT" panose="020B0802020104020203" charset="0"/>
              <a:sym typeface="Open Sauce Medium" panose="000006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pPr algn="ctr" fontAlgn="ctr"/>
            <a:r>
              <a:rPr>
                <a:sym typeface="+mn-ea"/>
              </a:rPr>
              <a:t>00</a:t>
            </a:r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7874000" y="49593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35" name="Text Box 34"/>
          <p:cNvSpPr txBox="1"/>
          <p:nvPr/>
        </p:nvSpPr>
        <p:spPr>
          <a:xfrm>
            <a:off x="6400800" y="9563100"/>
            <a:ext cx="56921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GB" sz="2800" b="1">
                <a:solidFill>
                  <a:schemeClr val="bg1"/>
                </a:solidFill>
              </a:rPr>
              <a:t>P - Palayam , K - Palayam 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724401" y="647700"/>
            <a:ext cx="919289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ctr">
              <a:buNone/>
            </a:pPr>
            <a:r>
              <a:rPr lang="en-US" altLang="en-US" sz="36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Line Automation - Cobot’s (Plan &amp; Status)</a:t>
            </a:r>
            <a:endParaRPr lang="en-US" altLang="en-US" sz="36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009015" y="2386330"/>
          <a:ext cx="16647873" cy="6522085"/>
        </p:xfrm>
        <a:graphic>
          <a:graphicData uri="http://schemas.openxmlformats.org/drawingml/2006/table">
            <a:tbl>
              <a:tblPr/>
              <a:tblGrid>
                <a:gridCol w="702945"/>
                <a:gridCol w="1800225"/>
                <a:gridCol w="1378585"/>
                <a:gridCol w="1872961"/>
                <a:gridCol w="1414601"/>
                <a:gridCol w="1172163"/>
                <a:gridCol w="1211045"/>
                <a:gridCol w="1690370"/>
                <a:gridCol w="2150745"/>
                <a:gridCol w="1572118"/>
                <a:gridCol w="1682115"/>
              </a:tblGrid>
              <a:tr h="48387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 err="1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sz="1600" b="1" i="0" dirty="0" err="1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</a:t>
                      </a:r>
                      <a:endParaRPr lang="en-US" altLang="en-GB"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Process Scope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Robots / Cobots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 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Man Power Reduced per shift</a:t>
                      </a:r>
                      <a:endParaRPr lang="en-US" altLang="en-GB"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Current Status</a:t>
                      </a:r>
                      <a:endParaRPr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Capex Cost</a:t>
                      </a:r>
                      <a:endParaRPr lang="en-US" altLang="en-GB"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</a:rPr>
                        <a:t>ROI</a:t>
                      </a:r>
                      <a:endParaRPr lang="en-US" altLang="en-GB" sz="1600" b="1" i="0"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  <a:hlinkClick r:id="rId2" action="ppaction://hlinksldjump"/>
                        </a:rPr>
                        <a:t>Stellantis line 1-Phase</a:t>
                      </a:r>
                      <a:endParaRPr sz="1600" b="1" i="0" dirty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P.Palayam</a:t>
                      </a:r>
                      <a:endParaRPr lang="en-US" altLang="en-GB"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, Ultrasonic washing , Vision , </a:t>
                      </a:r>
                      <a:r>
                        <a:rPr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OilWashing</a:t>
                      </a:r>
                      <a:endParaRPr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07-07-2025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20-07-2026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From 15 to 6</a:t>
                      </a:r>
                      <a:endParaRPr lang="en-US" altLang="en-GB"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= </a:t>
                      </a:r>
                      <a:r>
                        <a:rPr lang="en-US" altLang="en-GB" sz="1800" b="1" i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9 operators reduced</a:t>
                      </a:r>
                      <a:endParaRPr lang="en-US" altLang="en-GB" sz="1800" b="1" i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Installation &amp; commissioning </a:t>
                      </a:r>
                      <a:r>
                        <a:rPr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inprogress</a:t>
                      </a:r>
                      <a:endParaRPr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sz="1600" b="1">
                          <a:highlight>
                            <a:srgbClr val="FFFF00"/>
                          </a:highlight>
                          <a:sym typeface="+mn-ea"/>
                        </a:rPr>
                        <a:t>₹</a:t>
                      </a:r>
                      <a:r>
                        <a:rPr lang="en-IN" sz="1600" b="1">
                          <a:highlight>
                            <a:srgbClr val="FFFF00"/>
                          </a:highlight>
                          <a:sym typeface="+mn-ea"/>
                        </a:rPr>
                        <a:t>62</a:t>
                      </a:r>
                      <a:r>
                        <a:rPr sz="1600" b="1">
                          <a:highlight>
                            <a:srgbClr val="FFFF00"/>
                          </a:highlight>
                          <a:sym typeface="+mn-ea"/>
                        </a:rPr>
                        <a:t>,</a:t>
                      </a:r>
                      <a:r>
                        <a:rPr lang="en-IN" sz="1600" b="1">
                          <a:highlight>
                            <a:srgbClr val="FFFF00"/>
                          </a:highlight>
                          <a:sym typeface="+mn-ea"/>
                        </a:rPr>
                        <a:t>00</a:t>
                      </a:r>
                      <a:r>
                        <a:rPr sz="1600" b="1">
                          <a:highlight>
                            <a:srgbClr val="FFFF00"/>
                          </a:highlight>
                          <a:sym typeface="+mn-ea"/>
                        </a:rPr>
                        <a:t>,</a:t>
                      </a:r>
                      <a:r>
                        <a:rPr lang="en-IN" sz="1600" b="1">
                          <a:highlight>
                            <a:srgbClr val="FFFF00"/>
                          </a:highlight>
                          <a:sym typeface="+mn-ea"/>
                        </a:rPr>
                        <a:t>000</a:t>
                      </a:r>
                      <a:endParaRPr lang="en-GB" alt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In 2.6 years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95123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  <a:hlinkClick r:id="rId3" action="ppaction://hlinksldjump"/>
                        </a:rPr>
                        <a:t>BMW RAD Line</a:t>
                      </a:r>
                      <a:endParaRPr sz="1600" b="1" i="0" dirty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K.Palayam</a:t>
                      </a:r>
                      <a:endParaRPr lang="en-US" altLang="en-GB"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OP20→OP30→OP40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Cobots + 1 AMR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05-06-2026 (PO 01-07-26)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20-09-2026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From 33 to 9 </a:t>
                      </a:r>
                      <a:endParaRPr lang="en-US" alt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= </a:t>
                      </a:r>
                      <a:r>
                        <a:rPr lang="en-US" altLang="en-US" sz="1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24 Operators Reduced</a:t>
                      </a:r>
                      <a:endParaRPr lang="en-US" altLang="en-US" sz="18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DAP </a:t>
                      </a:r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Submission</a:t>
                      </a:r>
                      <a:endParaRPr 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 In 1.93 years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332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  <a:hlinkClick r:id="rId4" action="ppaction://hlinksldjump"/>
                        </a:rPr>
                        <a:t>Helical Line</a:t>
                      </a:r>
                      <a:endParaRPr sz="1600" b="1" i="0" dirty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P.Palayam</a:t>
                      </a:r>
                      <a:endParaRPr lang="en-US" altLang="en-GB"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 UR12e Cobot + 1 </a:t>
                      </a:r>
                      <a:r>
                        <a:rPr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yaskava</a:t>
                      </a:r>
                      <a:r>
                        <a:rPr sz="1600" b="1" i="0" dirty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 20kg robot</a:t>
                      </a:r>
                      <a:endParaRPr sz="1600" b="1" i="0" dirty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i="0" u="none" strike="noStrike" noProof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05-06-2026 (PO 01-07-26)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20-09-2026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From 24 to 6</a:t>
                      </a:r>
                      <a:endParaRPr lang="en-US" altLang="en-GB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= </a:t>
                      </a:r>
                      <a:r>
                        <a:rPr lang="en-US" altLang="en-GB" sz="1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18 Operators reduced</a:t>
                      </a:r>
                      <a:endParaRPr lang="en-US" altLang="en-GB" sz="18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DAP </a:t>
                      </a:r>
                      <a:r>
                        <a:rPr lang="en-US" sz="1600" b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Submission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sz="1600">
                        <a:ln>
                          <a:solidFill>
                            <a:srgbClr val="FFFF00"/>
                          </a:solidFill>
                        </a:ln>
                        <a:solidFill>
                          <a:srgbClr val="FFFF00"/>
                        </a:solidFill>
                      </a:endParaRPr>
                    </a:p>
                    <a:p>
                      <a:pPr algn="ctr" fontAlgn="ctr">
                        <a:buNone/>
                      </a:pPr>
                      <a:endParaRPr lang="en-GB" alt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ptos Narrow"/>
                          <a:cs typeface="Calibri" panose="020F0502020204030204" charset="0"/>
                          <a:sym typeface="+mn-ea"/>
                        </a:rPr>
                        <a:t>In 1.96 years</a:t>
                      </a:r>
                      <a:endParaRPr lang="en-US"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ptos Narrow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9518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  <a:hlinkClick r:id="rId5" action="ppaction://hlinksldjump"/>
                        </a:rPr>
                        <a:t>Ather Line</a:t>
                      </a:r>
                      <a:endParaRPr sz="1600" b="1" i="0" dirty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P.Palayam</a:t>
                      </a:r>
                      <a:endParaRPr lang="en-US" altLang="en-GB"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5 × ABB 12kg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05-07-2026(PO Not Released)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From 30 to 6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= </a:t>
                      </a:r>
                      <a:r>
                        <a:rPr lang="en-US" altLang="en-IN" sz="1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24 Operators Reduced</a:t>
                      </a:r>
                      <a:endParaRPr lang="en-US" altLang="en-IN" sz="18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Kickoff documents preparing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 2 years</a:t>
                      </a:r>
                      <a:endParaRPr lang="en-US" sz="16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425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 dirty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  <a:hlinkClick r:id="rId6" action="ppaction://hlinksldjump"/>
                        </a:rPr>
                        <a:t>Daimler Line</a:t>
                      </a:r>
                      <a:endParaRPr sz="1600" b="1" i="0" dirty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P.Palayam</a:t>
                      </a:r>
                      <a:endParaRPr lang="en-US" altLang="en-GB"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OP10 → OP20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4 × UR12e Cobots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05-07-2026 (PO Not Released)</a:t>
                      </a:r>
                      <a:endParaRPr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15-10-2026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From 24 to 6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= </a:t>
                      </a:r>
                      <a:r>
                        <a:rPr lang="en-US" altLang="en-IN" sz="1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18 Operators Reduced</a:t>
                      </a:r>
                      <a:endParaRPr lang="en-US" altLang="en-IN" sz="18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IN" sz="1600" b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Kickoff documents preparing</a:t>
                      </a:r>
                      <a:endParaRPr 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sz="1600" b="1">
                        <a:solidFill>
                          <a:srgbClr val="000000"/>
                        </a:solidFill>
                        <a:latin typeface="Calibri" panose="020F0502020204030204" charset="0"/>
                        <a:ea typeface="Calibri" panose="020F050202020403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>
                          <a:sym typeface="+mn-ea"/>
                        </a:rPr>
                        <a:t>In 2.10 years</a:t>
                      </a:r>
                      <a:endParaRPr 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98425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lang="en-US" altLang="en-GB" sz="1600" b="1" i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600" b="1" i="0" dirty="0">
                          <a:solidFill>
                            <a:srgbClr val="1A2433"/>
                          </a:solidFill>
                          <a:latin typeface="Calibri" panose="020F0502020204030204"/>
                          <a:ea typeface="Calibri" panose="020F0502020204030204"/>
                        </a:rPr>
                        <a:t>Vallam</a:t>
                      </a:r>
                      <a:endParaRPr sz="1600" b="1" i="0" dirty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ctr" fontAlgn="ctr">
                        <a:buNone/>
                      </a:pPr>
                      <a:endParaRPr lang="en-GB" altLang="en-US" sz="1600" b="1" i="0" dirty="0">
                        <a:solidFill>
                          <a:srgbClr val="1A2433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 dirty="0" err="1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Vallam</a:t>
                      </a:r>
                      <a:endParaRPr lang="en-US" altLang="en-GB" sz="1600" b="1" i="0" dirty="0" err="1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GB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GB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GB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IN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IN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IN" sz="1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IN" sz="1800" b="1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600">
                          <a:sym typeface="+mn-ea"/>
                        </a:rPr>
                        <a:t>RFQ in progress</a:t>
                      </a:r>
                      <a:endParaRPr lang="en-IN" alt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Calibri" panose="020F0502020204030204"/>
                          <a:cs typeface="Calibri" panose="020F0502020204030204" charset="0"/>
                          <a:sym typeface="+mn-ea"/>
                        </a:rPr>
                        <a:t>-</a:t>
                      </a:r>
                      <a:endParaRPr lang="en-US" altLang="en-GB" sz="1600" b="1">
                        <a:solidFill>
                          <a:srgbClr val="000000"/>
                        </a:solidFill>
                        <a:latin typeface="Calibri" panose="020F0502020204030204" charset="0"/>
                        <a:ea typeface="Calibri" panose="020F050202020403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600" b="1" i="0">
                          <a:solidFill>
                            <a:srgbClr val="5B6B7F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en-US" sz="1600" b="1" i="0">
                        <a:solidFill>
                          <a:srgbClr val="5B6B7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>
                    <a:lnL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8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s 10"/>
          <p:cNvSpPr/>
          <p:nvPr/>
        </p:nvSpPr>
        <p:spPr>
          <a:xfrm>
            <a:off x="14549120" y="5194935"/>
            <a:ext cx="1160780" cy="2533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ln>
                  <a:noFill/>
                </a:ln>
                <a:solidFill>
                  <a:schemeClr val="tx1"/>
                </a:solidFill>
                <a:sym typeface="+mn-ea"/>
              </a:rPr>
              <a:t>₹93,52,000</a:t>
            </a:r>
            <a:endParaRPr lang="en-GB" altLang="en-US" sz="1600" b="1">
              <a:ln>
                <a:noFill/>
              </a:ln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4522450" y="7236460"/>
            <a:ext cx="1339850" cy="2197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libri" panose="020F0502020204030204" charset="0"/>
                <a:ea typeface="Calibri" panose="020F0502020204030204"/>
                <a:cs typeface="Calibri" panose="020F0502020204030204" charset="0"/>
                <a:sym typeface="+mn-ea"/>
              </a:rPr>
              <a:t>₹1,00,00,000</a:t>
            </a:r>
            <a:endParaRPr lang="en-GB" altLang="en-US" sz="1600" b="1">
              <a:ln>
                <a:noFill/>
              </a:ln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4523085" y="6250305"/>
            <a:ext cx="1339215" cy="2298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ctr">
              <a:buNone/>
            </a:pPr>
            <a:r>
              <a:rPr sz="1600" b="1">
                <a:solidFill>
                  <a:schemeClr val="tx1"/>
                </a:solidFill>
                <a:sym typeface="+mn-ea"/>
              </a:rPr>
              <a:t>₹1,29,82,000</a:t>
            </a:r>
            <a:endParaRPr lang="en-GB" altLang="en-US" sz="1600" b="1">
              <a:ln>
                <a:noFill/>
              </a:ln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14511655" y="4212590"/>
            <a:ext cx="1302385" cy="2698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chemeClr val="tx1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  <a:sym typeface="+mn-ea"/>
              </a:rPr>
              <a:t>₹</a:t>
            </a:r>
            <a:r>
              <a:rPr lang="en-IN" sz="1600" b="1">
                <a:solidFill>
                  <a:schemeClr val="tx1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  <a:sym typeface="+mn-ea"/>
              </a:rPr>
              <a:t>1,23,71,600</a:t>
            </a:r>
            <a:endParaRPr lang="en-IN" altLang="en-US" sz="1600" b="1">
              <a:ln>
                <a:noFill/>
              </a:ln>
              <a:solidFill>
                <a:schemeClr val="tx1"/>
              </a:solidFill>
              <a:latin typeface="Calibri" panose="020F0502020204030204" charset="0"/>
              <a:ea typeface="Arial" panose="020B0604020202020204"/>
              <a:cs typeface="Calibri" panose="020F0502020204030204" charset="0"/>
              <a:sym typeface="+mn-ea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4549120" y="5208905"/>
            <a:ext cx="1160780" cy="2533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600" b="1">
                <a:ln>
                  <a:noFill/>
                </a:ln>
                <a:solidFill>
                  <a:schemeClr val="tx1"/>
                </a:solidFill>
                <a:sym typeface="+mn-ea"/>
              </a:rPr>
              <a:t>₹93,52,000</a:t>
            </a:r>
            <a:endParaRPr lang="en-GB" altLang="en-US" sz="1600" b="1">
              <a:ln>
                <a:noFill/>
              </a:ln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14523085" y="6264275"/>
            <a:ext cx="1339215" cy="22987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ctr">
              <a:buNone/>
            </a:pPr>
            <a:r>
              <a:rPr sz="1600" b="1">
                <a:solidFill>
                  <a:schemeClr val="tx1"/>
                </a:solidFill>
                <a:sym typeface="+mn-ea"/>
              </a:rPr>
              <a:t>₹1,29,82,000</a:t>
            </a:r>
            <a:endParaRPr lang="en-GB" altLang="en-US" sz="1600" b="1">
              <a:ln>
                <a:noFill/>
              </a:ln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4511655" y="4226560"/>
            <a:ext cx="1302385" cy="2698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600" b="1">
                <a:solidFill>
                  <a:schemeClr val="tx1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  <a:sym typeface="+mn-ea"/>
              </a:rPr>
              <a:t>₹</a:t>
            </a:r>
            <a:r>
              <a:rPr lang="en-IN" sz="1600" b="1">
                <a:solidFill>
                  <a:schemeClr val="tx1"/>
                </a:solidFill>
                <a:latin typeface="Calibri" panose="020F0502020204030204" charset="0"/>
                <a:ea typeface="Arial" panose="020B0604020202020204"/>
                <a:cs typeface="Calibri" panose="020F0502020204030204" charset="0"/>
                <a:sym typeface="+mn-ea"/>
              </a:rPr>
              <a:t>1,23,71,600</a:t>
            </a:r>
            <a:endParaRPr lang="en-IN" altLang="en-US" sz="1600" b="1">
              <a:ln>
                <a:noFill/>
              </a:ln>
              <a:solidFill>
                <a:schemeClr val="tx1"/>
              </a:solidFill>
              <a:latin typeface="Calibri" panose="020F0502020204030204" charset="0"/>
              <a:ea typeface="Arial" panose="020B0604020202020204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t="-18682" r="-51459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7222683" y="5008364"/>
            <a:ext cx="417395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</a:pPr>
            <a:r>
              <a:rPr lang="en-US" sz="3600" b="1" spc="-215">
                <a:solidFill>
                  <a:srgbClr val="000000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Vision 0</a:t>
            </a:r>
            <a:endParaRPr lang="en-US" sz="3600" b="1" spc="-215">
              <a:solidFill>
                <a:srgbClr val="000000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graphicFrame>
        <p:nvGraphicFramePr>
          <p:cNvPr id="14" name="Table 13"/>
          <p:cNvGraphicFramePr/>
          <p:nvPr/>
        </p:nvGraphicFramePr>
        <p:xfrm>
          <a:off x="252095" y="1299845"/>
          <a:ext cx="17582515" cy="7626985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756920"/>
                <a:gridCol w="1315085"/>
                <a:gridCol w="1557655"/>
                <a:gridCol w="3098800"/>
                <a:gridCol w="5069205"/>
                <a:gridCol w="1434465"/>
                <a:gridCol w="1818640"/>
                <a:gridCol w="1271270"/>
                <a:gridCol w="1260475"/>
              </a:tblGrid>
              <a:tr h="699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S.No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800"/>
                        <a:t>Responsibility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Project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800"/>
                        <a:t>Task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800"/>
                        <a:t>Description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800"/>
                        <a:t>Tested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800"/>
                        <a:t>Status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800"/>
                        <a:t>Start date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800"/>
                        <a:t>End date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172C4"/>
                    </a:solidFill>
                  </a:tcPr>
                </a:tc>
              </a:tr>
              <a:tr h="521335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sz="2000">
                          <a:sym typeface="+mn-ea"/>
                        </a:rPr>
                        <a:t>P.PALAYAM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86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1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1018(Stellantis) line Automation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OP10 installation fully completed and Ultra wash installation 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23.06.2026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10.09.2026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86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2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Diamler line Automation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I/P table and O/P table are in manafacturing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20.07.2026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20.09.2026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93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3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Helical Line Automation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Installation 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28.08.2026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30.09.2026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86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4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Ather Line Automation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DAP 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12.08.2026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10.09.2026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84835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sz="1800">
                          <a:sym typeface="+mn-ea"/>
                        </a:rPr>
                        <a:t>K.PALAYAM</a:t>
                      </a:r>
                      <a:endParaRPr lang="en-GB" alt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7207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GB" sz="1800"/>
                        <a:t>5</a:t>
                      </a:r>
                      <a:endParaRPr lang="en-US" altLang="en-GB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Anand &amp; Mynthan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Robotics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RAD Line Automation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need to complete DAP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Anand &amp; mynthan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Inprogress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01.08.2026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/>
                        <a:t>31.08.2026</a:t>
                      </a:r>
                      <a:endParaRPr lang="en-US" sz="18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19430"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>
                          <a:sym typeface="+mn-ea"/>
                        </a:rPr>
                        <a:t>VALLAM</a:t>
                      </a:r>
                      <a:endParaRPr lang="en-GB" alt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8369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GB" sz="2000"/>
                        <a:t>6</a:t>
                      </a:r>
                      <a:endParaRPr lang="en-US" altLang="en-GB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Chennai vallam plant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RFQ in 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Inprogress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01.08.2026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10.09.2026</a:t>
                      </a:r>
                      <a:endParaRPr lang="en-US" sz="2000"/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solidFill>
                        <a:scrgbClr r="0" g="0" b="0"/>
                      </a:solidFill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5334000" y="-495300"/>
            <a:ext cx="9378950" cy="14090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algn="just">
              <a:lnSpc>
                <a:spcPts val="10275"/>
              </a:lnSpc>
            </a:pPr>
            <a:r>
              <a:rPr lang="en-US" sz="3600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Cambria" panose="02040503050406030204" charset="0"/>
                <a:ea typeface="Garet Bold"/>
                <a:cs typeface="Cambria" panose="02040503050406030204" charset="0"/>
                <a:sym typeface="Garet Bold"/>
              </a:rPr>
              <a:t> </a:t>
            </a:r>
            <a:r>
              <a:rPr lang="en-GB" altLang="en-US" sz="3600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Cambria" panose="02040503050406030204" charset="0"/>
                <a:ea typeface="Garet Bold"/>
                <a:cs typeface="Cambria" panose="02040503050406030204" charset="0"/>
                <a:sym typeface="Garet Bold"/>
              </a:rPr>
              <a:t>AUGUST </a:t>
            </a:r>
            <a:r>
              <a:rPr lang="en-US" sz="3600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Cambria" panose="02040503050406030204" charset="0"/>
                <a:ea typeface="Garet Bold"/>
                <a:cs typeface="Cambria" panose="02040503050406030204" charset="0"/>
                <a:sym typeface="Garet Bold"/>
              </a:rPr>
              <a:t> PLAN VS ACTUAL STATUS </a:t>
            </a:r>
            <a:endParaRPr lang="en-US" altLang="en-US" sz="3600" u="sng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latin typeface="Cambria" panose="02040503050406030204" charset="0"/>
              <a:ea typeface="Garet Bold"/>
              <a:cs typeface="Cambria" panose="02040503050406030204" charset="0"/>
              <a:sym typeface="Gare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t="-18682" r="-51459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7222683" y="5008364"/>
            <a:ext cx="417395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</a:pPr>
            <a:r>
              <a:rPr lang="en-US" sz="3600" b="1" spc="-215">
                <a:solidFill>
                  <a:srgbClr val="000000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Vision 0</a:t>
            </a:r>
            <a:endParaRPr lang="en-US" sz="3600" b="1" spc="-215">
              <a:solidFill>
                <a:srgbClr val="000000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519430" y="1104900"/>
          <a:ext cx="17249140" cy="9823450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1076206"/>
                <a:gridCol w="1534160"/>
                <a:gridCol w="2670810"/>
                <a:gridCol w="7789545"/>
                <a:gridCol w="2068830"/>
                <a:gridCol w="2109589"/>
              </a:tblGrid>
              <a:tr h="588645">
                <a:tc grid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sz="2000"/>
                        <a:t>SEPTEMBER PLANNED TASKS</a:t>
                      </a:r>
                      <a:endParaRPr lang="en-GB" sz="2000"/>
                    </a:p>
                  </a:txBody>
                  <a:tcPr marL="12700" marR="12700" marT="12700" vert="horz"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750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S.No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Plant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Project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Task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Status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Responsibility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</a:tr>
              <a:tr h="7143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1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P.Palayam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1018(Stellantis) line Automation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Ultra wash installation need to complete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</a:tr>
              <a:tr h="8591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2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P.Palayam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Diamler line Automation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Per one cell installation need to complete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</a:tr>
              <a:tr h="7956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3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K.Palayam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RAD Line Automation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need to complete DAP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</a:tr>
              <a:tr h="6407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4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P.Palayam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Helical Line Automation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Installation need to complete for 2 cobot cell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</a:tr>
              <a:tr h="4445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5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P.Palayam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Ather Line Automation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DAP need to complete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</a:tr>
              <a:tr h="7226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6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Vallam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Robotics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Chennai vallam plant 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Yet to get commerical from vendor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Anand &amp; mynthan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</a:tr>
              <a:tr h="7302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2000"/>
                        <a:t>7</a:t>
                      </a:r>
                      <a:endParaRPr lang="en-GB" alt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P.Palayam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HT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HT data collection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need to complete data collection furnace 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/>
                        <a:t>Mynthan</a:t>
                      </a:r>
                      <a:endParaRPr lang="en-US" sz="2000"/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382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990600" y="419100"/>
            <a:ext cx="1197800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STELLANTIS LINE - Machine Tending Operation using Cobots - Phase 1</a:t>
            </a:r>
            <a:endParaRPr lang="en-US" sz="32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889115" y="9639300"/>
            <a:ext cx="451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GB" sz="2800" b="1">
                <a:solidFill>
                  <a:schemeClr val="bg1"/>
                </a:solidFill>
              </a:rPr>
              <a:t>Plant : P - Palayam |Stellantis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447800" y="3086100"/>
            <a:ext cx="558800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Transformation from manual or conventional robotic operations to collaborative cobot systems at Stellantis line . </a:t>
            </a:r>
            <a:endParaRPr lang="en-US" b="1">
              <a:solidFill>
                <a:schemeClr val="bg2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Enables safe human–robot collaboration in shared workspaces without safety cages, improving flexibility and ergonomics.</a:t>
            </a:r>
            <a:endParaRPr lang="en-US" b="1">
              <a:solidFill>
                <a:schemeClr val="bg2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Cobots handle repetitive tasks while humans focus on supervision, quality, and decision-making for higher productivity.</a:t>
            </a:r>
            <a:endParaRPr lang="en-GB" altLang="en-US">
              <a:latin typeface="Gill Sans MT" panose="020B0802020104020203" charset="0"/>
              <a:cs typeface="Gill Sans MT" panose="020B0802020104020203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1</a:t>
            </a:r>
            <a:endParaRPr lang="en-US" altLang="en-GB" sz="3600" b="1"/>
          </a:p>
        </p:txBody>
      </p:sp>
      <p:sp>
        <p:nvSpPr>
          <p:cNvPr id="8" name="Text Box 7"/>
          <p:cNvSpPr txBox="1"/>
          <p:nvPr/>
        </p:nvSpPr>
        <p:spPr>
          <a:xfrm>
            <a:off x="9658350" y="7658100"/>
            <a:ext cx="60985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>
                <a:solidFill>
                  <a:schemeClr val="bg1"/>
                </a:solidFill>
              </a:rPr>
              <a:t>Note : OP10 compleetd and its successfully running in shopfloor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5621000" y="5715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2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7874000" y="49593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35" name="Text Box 34"/>
          <p:cNvSpPr txBox="1"/>
          <p:nvPr/>
        </p:nvSpPr>
        <p:spPr>
          <a:xfrm>
            <a:off x="8178800" y="9563100"/>
            <a:ext cx="19304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 i="1">
                <a:solidFill>
                  <a:schemeClr val="bg1"/>
                </a:solidFill>
              </a:rPr>
              <a:t>P - Palayam</a:t>
            </a:r>
            <a:endParaRPr lang="en-US" altLang="en-GB" sz="2800" b="1" i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421960" y="571500"/>
            <a:ext cx="9761582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 defTabSz="457200">
              <a:defRPr/>
            </a:pPr>
            <a:r>
              <a:rPr lang="en-US" altLang="en-IN" sz="2400" b="1">
                <a:solidFill>
                  <a:schemeClr val="bg1"/>
                </a:solidFill>
                <a:latin typeface="Gill Sans MT" panose="020B0802020104020203"/>
                <a:cs typeface="Gill Sans MT" panose="020B0802020104020203" charset="0"/>
                <a:sym typeface="+mn-ea"/>
              </a:rPr>
              <a:t>OPERATION 10 DAP APPROVAL  </a:t>
            </a:r>
            <a:r>
              <a:rPr lang="en-IN" altLang="en-US" sz="2400" b="1">
                <a:solidFill>
                  <a:schemeClr val="bg1"/>
                </a:solidFill>
                <a:latin typeface="Gill Sans MT" panose="020B0802020104020203"/>
                <a:cs typeface="Gill Sans MT" panose="020B0802020104020203" charset="0"/>
                <a:sym typeface="+mn-ea"/>
              </a:rPr>
              <a:t>- STELLANTIS LINE 1 PHASE</a:t>
            </a:r>
            <a:r>
              <a:rPr lang="en-US" sz="2400" b="1" dirty="0">
                <a:solidFill>
                  <a:schemeClr val="bg1"/>
                </a:solidFill>
                <a:latin typeface="Gill Sans MT" panose="020B0802020104020203"/>
                <a:cs typeface="Gill Sans MT" panose="020B0802020104020203" charset="0"/>
                <a:sym typeface="+mn-ea"/>
              </a:rPr>
              <a:t> </a:t>
            </a:r>
            <a:endParaRPr lang="en-US" altLang="en-US" sz="2400" b="1" dirty="0">
              <a:solidFill>
                <a:schemeClr val="bg1"/>
              </a:solidFill>
              <a:latin typeface="Gill Sans MT" panose="020B0802020104020203"/>
              <a:cs typeface="Gill Sans MT" panose="020B0802020104020203" charset="0"/>
              <a:sym typeface="+mn-ea"/>
            </a:endParaRPr>
          </a:p>
        </p:txBody>
      </p:sp>
      <p:pic>
        <p:nvPicPr>
          <p:cNvPr id="6" name="Picture 5" descr="IMG-20260715-WA0001"/>
          <p:cNvPicPr>
            <a:picLocks noChangeAspect="1"/>
          </p:cNvPicPr>
          <p:nvPr/>
        </p:nvPicPr>
        <p:blipFill>
          <a:blip r:embed="rId2"/>
          <a:srcRect l="13077" t="10644" r="5210"/>
          <a:stretch>
            <a:fillRect/>
          </a:stretch>
        </p:blipFill>
        <p:spPr>
          <a:xfrm rot="16200000">
            <a:off x="5304790" y="-309880"/>
            <a:ext cx="7919085" cy="11214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7620" y="-56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5" name="Text Box 4"/>
          <p:cNvSpPr txBox="1"/>
          <p:nvPr/>
        </p:nvSpPr>
        <p:spPr>
          <a:xfrm>
            <a:off x="7874000" y="49593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279390" y="2534920"/>
            <a:ext cx="772922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PROJECT CAPEX PO DETAILS 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- STELLANTIS LINE 1 PHASE</a:t>
            </a:r>
            <a:endParaRPr lang="en-US" altLang="en-US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4269740" y="3373120"/>
          <a:ext cx="9298940" cy="4478337"/>
        </p:xfrm>
        <a:graphic>
          <a:graphicData uri="http://schemas.openxmlformats.org/drawingml/2006/table">
            <a:tbl>
              <a:tblPr/>
              <a:tblGrid>
                <a:gridCol w="696595"/>
                <a:gridCol w="965200"/>
                <a:gridCol w="1347470"/>
                <a:gridCol w="1178560"/>
                <a:gridCol w="951230"/>
                <a:gridCol w="1276985"/>
                <a:gridCol w="896620"/>
                <a:gridCol w="1208405"/>
                <a:gridCol w="777875"/>
              </a:tblGrid>
              <a:tr h="889000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527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43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,40,000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Mar-2026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Paid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5214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12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,40,000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Jun-2026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19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Jun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aid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6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,20,000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Jul-2026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</a:t>
                      </a:r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100%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IN" sz="16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62,00,000</a:t>
                      </a:r>
                      <a:endParaRPr lang="en-IN"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210935" y="1143635"/>
            <a:ext cx="5528945" cy="46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PHASE 1 – 2 COBOTS, PHASE 2 – 4 COBOTS</a:t>
            </a:r>
            <a:endParaRPr lang="en-US" sz="2400" b="1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7620" y="-56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5" name="Text Box 4"/>
          <p:cNvSpPr txBox="1"/>
          <p:nvPr/>
        </p:nvSpPr>
        <p:spPr>
          <a:xfrm>
            <a:off x="7874000" y="49593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78790" y="263525"/>
            <a:ext cx="5528945" cy="4603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PHASE 1 – 2 COBOTS, PHASE 2 – 4 COBOTS</a:t>
            </a:r>
            <a:endParaRPr lang="en-US" sz="2400" b="1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image001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1121410"/>
            <a:ext cx="14915515" cy="892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7874000" y="49593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altLang="en-US"/>
              <a:t> </a:t>
            </a:r>
            <a:endParaRPr lang="en-GB" alt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76200" y="1409700"/>
          <a:ext cx="8605520" cy="7983220"/>
        </p:xfrm>
        <a:graphic>
          <a:graphicData uri="http://schemas.openxmlformats.org/drawingml/2006/table">
            <a:tbl>
              <a:tblPr/>
              <a:tblGrid>
                <a:gridCol w="734695"/>
                <a:gridCol w="3565525"/>
                <a:gridCol w="1537970"/>
                <a:gridCol w="1494155"/>
                <a:gridCol w="1273175"/>
              </a:tblGrid>
              <a:tr h="41910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Task Description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 Date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Status</a:t>
                      </a:r>
                      <a:endParaRPr sz="16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Requirement Date &amp; Initial Feasibility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30-Jun-2025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30-Jun-2025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Plant Input &amp; Cycle Time Study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03-Jul-2025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10-Jul-2025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Budgetary Estimation &amp; RFQ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25-Jul-2025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20-Aug-2025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Pre-Qualification &amp; NDA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09-Aug-2025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04-Sep-2025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RFQ Submission &amp; Tech Discussion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11-Aug-2025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11-Sep-2025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Site Evaluation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10-Sep-2025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05-Oct-2025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Offer Evaluation &amp; Tech Compliance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15-Sep-2025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18-Oct-2025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Risk Assessment &amp; Commercial Negotiation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02-Oct-2025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06-Dec-2025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163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Techno-Commercial Comparison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08-Oct-2025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30-Jan-2026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Finalization &amp; Mgmt Approval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12-Oct-2025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16-Feb-2026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Scope Freeze &amp; PO Release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02-Nov-2025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21-Mar-2026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12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Advance Payment &amp; Design Kick-off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03-Apr-2026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Design Approval (Robotic + Gripper + Conveyor)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15-Mar-2026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04-Apr-2026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Cobot Delivery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17-Mar-2026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15-May-2026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7973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Mechanical Fabrication (All Sub-systems)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20-May-2026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Electrical / Controls Build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30-Mar-2026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20-May-2026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163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17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FAT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25-May-2026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05-Jun-2026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Dispatch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07-Jun-2026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-Jun-2026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Closed</a:t>
                      </a:r>
                      <a:endParaRPr sz="1400" b="0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19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Installation &amp; Commissioning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13-Jun-2026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23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-Jul-2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02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Open</a:t>
                      </a:r>
                      <a:endParaRPr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788796" y="605790"/>
            <a:ext cx="510921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ACTIVITY IMPLEMENTATION STATUS</a:t>
            </a:r>
            <a:r>
              <a:rPr lang="en-IN" altLang="en-US" sz="20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</a:t>
            </a:r>
            <a:endParaRPr lang="en-IN" altLang="en-US" sz="2000" b="1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9014822" y="772251"/>
          <a:ext cx="9144000" cy="9020175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525145"/>
                <a:gridCol w="2196465"/>
                <a:gridCol w="1436370"/>
                <a:gridCol w="788670"/>
                <a:gridCol w="774065"/>
                <a:gridCol w="569595"/>
                <a:gridCol w="941705"/>
                <a:gridCol w="1911985"/>
              </a:tblGrid>
              <a:tr h="417195">
                <a:tc grid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b="1"/>
                        <a:t>Installation Schedule</a:t>
                      </a:r>
                      <a:endParaRPr lang="en-US" altLang="en-US" sz="1600" b="1"/>
                    </a:p>
                  </a:txBody>
                  <a:tcPr marL="12700" marR="12700" marT="1270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dirty="0" err="1">
                          <a:latin typeface="Calibri" panose="020F0502020204030204"/>
                          <a:cs typeface="Calibri" panose="020F0502020204030204"/>
                        </a:rPr>
                        <a:t>S.No</a:t>
                      </a:r>
                      <a:endParaRPr lang="en-US" altLang="en-US" sz="1200" b="1" dirty="0" err="1"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Activity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Responsible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Start Date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Target Date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Duration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Status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Remarks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Material Receipt at Customer Site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+ Customer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22-06-2026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23-06-2026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CLOSED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Verify delivered materials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Unloading &amp; Inspection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23-06-2026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23-06-2026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CLOSED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Check for transit damage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3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Machine Positioning &amp; Alignment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Mechanical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24-06-2026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25-06-2026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As per approved layout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4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Conveyor and Lifter Installation &amp; Leveling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Mechanical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25-06-2026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25-06-2026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Alignment and leveling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5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Cobot Pedestal Installation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Mechanical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25-06-2026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25-06-2026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Anchor and level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Cobot Installation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Automation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26-06-2026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26-06-2026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Robot mounting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7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Gripper Installation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Automation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26-06-2026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26-06-2026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Mechanical &amp; pneumatic connections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8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Pneumatic Line Installation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Mechanical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26-06-2026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26-06-2026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FRL, tubing, valves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9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Control Panel Installation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Electrical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27-06-2026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01-07-2026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4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Panel mounting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10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Electrical Wiring &amp; Cable Dressing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Electrical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27-06-2026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01-07-2026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4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Power and I/O wiring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PLC, HMI &amp; Network Connections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Automation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02-07-2026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06-07-2026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4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Communication setup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Power ON &amp; I/O Verification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Automation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07-07-2026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08-07-2026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Sensor and actuator checks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13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Robot Calibration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Robot Engineer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09-07-2026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09-07-2026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1</a:t>
                      </a:r>
                      <a:endParaRPr lang="en-US" altLang="en-US" sz="1200" b="1" i="0" u="none" strike="noStrike" kern="12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GB" altLang="en-US" sz="1200" b="1" i="0" u="none" strike="noStrike" kern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 PROCESS</a:t>
                      </a:r>
                      <a:endParaRPr lang="en-GB" altLang="en-US" sz="1200" b="1" i="0" u="none" strike="noStrike" kern="120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TCP and frame calibration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14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PLC &amp; Robot Program 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Automation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10-07-2026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11-07-2026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 PROCESS</a:t>
                      </a:r>
                      <a:endParaRPr lang="en-US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15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Dry Run Trial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Automation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13-07-2026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15-07-2026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3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CLOSED</a:t>
                      </a:r>
                      <a:endParaRPr lang="en-US"/>
                    </a:p>
                  </a:txBody>
                  <a:tcPr marL="12700" marR="12700" marT="1270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Without production parts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Production Trial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+ Customer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16-07-2026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18-07-2026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3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 PROCESS</a:t>
                      </a:r>
                      <a:endParaRPr lang="en-US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Actual component validation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17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Cycle Time Optimization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Automation Team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20-07-2026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21-07-2026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 PROCESS</a:t>
                      </a:r>
                      <a:endParaRPr lang="en-US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Performance tuning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18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Safety Validation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+ Customer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22-07-2026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22-07-2026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 PROCESS</a:t>
                      </a:r>
                      <a:endParaRPr lang="en-US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Safety interlocks and E-stop testing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19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Operator &amp; Maintenance Training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23-07-2026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23-07-2026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lvl="0" indent="0">
                        <a:buNone/>
                      </a:pPr>
                      <a:r>
                        <a:rPr lang="en-GB" sz="1200" b="1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 PROCESS</a:t>
                      </a:r>
                      <a:endParaRPr lang="en-US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Customer training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  <a:tr h="393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20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Site Acceptance Test (SAT) &amp; Handover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RNT + Customer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24-07-2026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25-07-2026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cs typeface="Calibri" panose="020F0502020204030204" charset="0"/>
                        </a:rPr>
                        <a:t>Final approval</a:t>
                      </a:r>
                      <a:endParaRPr lang="en-US" altLang="en-US" sz="12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12700" marR="12700" marT="12700" anchor="ctr"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1565256" y="419100"/>
            <a:ext cx="369189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INSTALLATION SCHEDULE</a:t>
            </a:r>
            <a:endParaRPr lang="en-US" sz="2000" b="1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8826500" y="-43180"/>
            <a:ext cx="0" cy="1026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 Box 7"/>
          <p:cNvSpPr txBox="1"/>
          <p:nvPr/>
        </p:nvSpPr>
        <p:spPr>
          <a:xfrm>
            <a:off x="1981201" y="432435"/>
            <a:ext cx="1249489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BMW RAD LINE - Autonomous Moving Robot (AMR) with cobot</a:t>
            </a:r>
            <a:endParaRPr lang="en-US" altLang="en-US" sz="32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524000" y="2933700"/>
            <a:ext cx="75914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Operators spend significant time transporting materials between CNC/VMC machines, reducing productive machine operation time.</a:t>
            </a:r>
            <a:endParaRPr lang="en-GB" altLang="en-US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Manual material handling can lead to delays, inefficient workflow, and increased production cycle times.</a:t>
            </a:r>
            <a:endParaRPr lang="en-GB" altLang="en-US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505585" y="5676900"/>
            <a:ext cx="764730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Deploy an Autonomous Mobile Robot (AMR) to automate the movement of raw materials, WIP, and finished goods across the shopfloor.</a:t>
            </a:r>
            <a:endParaRPr lang="en-GB" altLang="en-US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Improve machine utilization, reduce operator workload, and enable a more efficient and connected manufacturing process.</a:t>
            </a:r>
            <a:endParaRPr lang="en-GB" altLang="en-US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889693" y="2400300"/>
            <a:ext cx="348869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ctr">
              <a:buNone/>
            </a:pPr>
            <a:r>
              <a:rPr lang="en-US" sz="28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Problem Statement</a:t>
            </a:r>
            <a:endParaRPr lang="en-US" altLang="en-US" sz="28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765676" y="5219700"/>
            <a:ext cx="157162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ctr">
              <a:buNone/>
            </a:pPr>
            <a:r>
              <a:rPr lang="en-US" altLang="en-US" sz="28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Solution</a:t>
            </a:r>
            <a:endParaRPr lang="en-US" altLang="en-US" sz="28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2344401" y="1943100"/>
            <a:ext cx="137096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 algn="ctr">
              <a:buNone/>
            </a:pPr>
            <a:r>
              <a:rPr lang="en-US" altLang="en-US" sz="28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Results</a:t>
            </a:r>
            <a:endParaRPr lang="en-US" altLang="en-US" sz="28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6694170" y="9563100"/>
            <a:ext cx="71824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K-palayam (RAD)| Project : AMR(cobots)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2</a:t>
            </a:r>
            <a:endParaRPr lang="en-US" altLang="en-GB" sz="3600" b="1"/>
          </a:p>
        </p:txBody>
      </p:sp>
      <p:sp>
        <p:nvSpPr>
          <p:cNvPr id="5" name="Rectangles 4"/>
          <p:cNvSpPr/>
          <p:nvPr/>
        </p:nvSpPr>
        <p:spPr>
          <a:xfrm>
            <a:off x="15621000" y="5715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2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9067800" y="459740"/>
            <a:ext cx="0" cy="9360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/>
          <p:nvPr/>
        </p:nvGraphicFramePr>
        <p:xfrm>
          <a:off x="9296400" y="1393190"/>
          <a:ext cx="8852535" cy="8219440"/>
        </p:xfrm>
        <a:graphic>
          <a:graphicData uri="http://schemas.openxmlformats.org/drawingml/2006/table">
            <a:tbl>
              <a:tblPr lastRow="1">
                <a:tableStyleId>{21E4AEA4-8DFA-4A89-87EB-49C32662AFE0}</a:tableStyleId>
              </a:tblPr>
              <a:tblGrid>
                <a:gridCol w="3839845"/>
                <a:gridCol w="2842260"/>
                <a:gridCol w="2170430"/>
              </a:tblGrid>
              <a:tr h="499110">
                <a:tc>
                  <a:txBody>
                    <a:bodyPr/>
                    <a:lstStyle/>
                    <a:p>
                      <a:pPr algn="ctr" font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Parameter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9842" marR="9842" marT="9842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>
                          <a:solidFill>
                            <a:schemeClr val="tx1"/>
                          </a:solidFill>
                        </a:rPr>
                        <a:t>Unit Cost</a:t>
                      </a:r>
                      <a:endParaRPr lang="en-US" sz="2000" b="1">
                        <a:solidFill>
                          <a:schemeClr val="tx1"/>
                        </a:solidFill>
                      </a:endParaRPr>
                    </a:p>
                  </a:txBody>
                  <a:tcPr marL="9842" marR="9842" marT="9842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Value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9842" marR="9842" marT="9842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Machines Automated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11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8481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Cobots Used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4Cobot + 1 AMR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1338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per Shift (Current)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11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6957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Shifts per Day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3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Operators Required per Day (Current)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11 × 3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33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9878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Salary per Operator per Month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22,000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2735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Monthly Manpower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33 × 22,000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7,26,000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1465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Annual Manpower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7,26,000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87,12,000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6990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9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9941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Monthly Manpower Cost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9 × 22,000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1,98,000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9941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Manpower Cost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1,98,000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23,76,000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0068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Savings Due to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87,12,000 − 23,76,000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63,86,000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2672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Automation Project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IN" sz="1600"/>
                        <a:t>1,23</a:t>
                      </a:r>
                      <a:r>
                        <a:rPr sz="1600"/>
                        <a:t>,</a:t>
                      </a:r>
                      <a:r>
                        <a:rPr lang="en-IN" sz="1600"/>
                        <a:t>72</a:t>
                      </a:r>
                      <a:r>
                        <a:rPr sz="1600"/>
                        <a:t>,</a:t>
                      </a:r>
                      <a:r>
                        <a:rPr lang="en-IN" sz="1600"/>
                        <a:t>6</a:t>
                      </a:r>
                      <a:r>
                        <a:rPr sz="1600"/>
                        <a:t>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4132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ROI Payback Period (Years)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sng"/>
                        <a:t>1,23</a:t>
                      </a:r>
                      <a:r>
                        <a:rPr sz="2000" b="1" u="sng"/>
                        <a:t>,</a:t>
                      </a:r>
                      <a:r>
                        <a:rPr lang="en-IN" sz="2000" b="1" u="sng"/>
                        <a:t>71</a:t>
                      </a:r>
                      <a:r>
                        <a:rPr sz="2000" b="1" u="sng"/>
                        <a:t>,</a:t>
                      </a:r>
                      <a:r>
                        <a:rPr lang="en-IN" sz="2000" b="1" u="sng"/>
                        <a:t>6</a:t>
                      </a:r>
                      <a:r>
                        <a:rPr sz="2000" b="1" u="sng"/>
                        <a:t>00 ÷ 63,86,000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1.</a:t>
                      </a:r>
                      <a:r>
                        <a:rPr lang="en-IN" sz="2000" b="1" u="sng"/>
                        <a:t>93</a:t>
                      </a:r>
                      <a:r>
                        <a:rPr sz="2000" b="1" u="sng"/>
                        <a:t> Years</a:t>
                      </a:r>
                      <a:endParaRPr sz="2000" b="1" u="sng"/>
                    </a:p>
                  </a:txBody>
                  <a:tcPr marL="9842" marR="9842" marT="9842" marB="0" anchor="ctr"/>
                </a:tc>
              </a:tr>
              <a:tr h="42926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ROI Payback Period (Months)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1.</a:t>
                      </a:r>
                      <a:r>
                        <a:rPr lang="en-IN" sz="1600"/>
                        <a:t>93</a:t>
                      </a:r>
                      <a:r>
                        <a:rPr sz="1600"/>
                        <a:t>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/>
                        <a:t>23 </a:t>
                      </a:r>
                      <a:r>
                        <a:rPr sz="1600"/>
                        <a:t>Months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52959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sz="1600">
                          <a:sym typeface="+mn-ea"/>
                        </a:rPr>
                        <a:t>Operator Reduction</a:t>
                      </a:r>
                      <a:r>
                        <a:rPr lang="en-US" sz="1600">
                          <a:sym typeface="+mn-ea"/>
                        </a:rPr>
                        <a:t> per shift</a:t>
                      </a:r>
                      <a:endParaRPr lang="en-GB" altLang="en-US"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600"/>
                        <a:t>11 - 3</a:t>
                      </a:r>
                      <a:endParaRPr lang="en-US" altLang="en-US"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600"/>
                        <a:t>8 Operators Reduced</a:t>
                      </a:r>
                      <a:endParaRPr lang="en-US" altLang="en-GB" sz="1600"/>
                    </a:p>
                  </a:txBody>
                  <a:tcPr marL="9842" marR="9842" marT="9842" marB="0" anchor="ctr"/>
                </a:tc>
              </a:tr>
              <a:tr h="529590">
                <a:tc>
                  <a:txBody>
                    <a:bodyPr/>
                    <a:lstStyle/>
                    <a:p>
                      <a:pPr algn="ctr" fontAlgn="ctr"/>
                      <a:r>
                        <a:rPr sz="1800" b="1"/>
                        <a:t>Operator Reduction</a:t>
                      </a:r>
                      <a:r>
                        <a:rPr lang="en-US" sz="1800" b="1"/>
                        <a:t> per day</a:t>
                      </a:r>
                      <a:endParaRPr lang="en-US"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33</a:t>
                      </a:r>
                      <a:r>
                        <a:rPr sz="1800" b="1"/>
                        <a:t> − 0</a:t>
                      </a:r>
                      <a:r>
                        <a:rPr lang="en-US" sz="1800" b="1"/>
                        <a:t>9</a:t>
                      </a:r>
                      <a:endParaRPr lang="en-US"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24</a:t>
                      </a:r>
                      <a:r>
                        <a:rPr sz="1800" b="1"/>
                        <a:t> Operators Reduced</a:t>
                      </a:r>
                      <a:endParaRPr sz="1800" b="1"/>
                    </a:p>
                  </a:txBody>
                  <a:tcPr marL="9842" marR="9842" marT="9842" marB="0" anchor="ctr"/>
                </a:tc>
              </a:tr>
              <a:tr h="39814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Savings After 5 Years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(63,86,000 × 5) − </a:t>
                      </a:r>
                      <a:r>
                        <a:rPr lang="en-IN" sz="1800"/>
                        <a:t>1,23</a:t>
                      </a:r>
                      <a:r>
                        <a:rPr sz="1800"/>
                        <a:t>,</a:t>
                      </a:r>
                      <a:r>
                        <a:rPr lang="en-IN" sz="1800"/>
                        <a:t>71</a:t>
                      </a:r>
                      <a:r>
                        <a:rPr sz="1800"/>
                        <a:t>,</a:t>
                      </a:r>
                      <a:r>
                        <a:rPr lang="en-IN" sz="1800"/>
                        <a:t>6</a:t>
                      </a:r>
                      <a:r>
                        <a:rPr sz="1800"/>
                        <a:t>00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</a:t>
                      </a:r>
                      <a:r>
                        <a:rPr lang="en-IN" sz="1800"/>
                        <a:t>1</a:t>
                      </a:r>
                      <a:r>
                        <a:rPr sz="1800"/>
                        <a:t>,</a:t>
                      </a:r>
                      <a:r>
                        <a:rPr lang="en-IN" sz="1800"/>
                        <a:t>9</a:t>
                      </a:r>
                      <a:r>
                        <a:rPr sz="1800"/>
                        <a:t>5,</a:t>
                      </a:r>
                      <a:r>
                        <a:rPr lang="en-IN" sz="1800"/>
                        <a:t>5</a:t>
                      </a:r>
                      <a:r>
                        <a:rPr sz="1800"/>
                        <a:t>8,</a:t>
                      </a:r>
                      <a:r>
                        <a:rPr lang="en-IN" sz="1800"/>
                        <a:t>4</a:t>
                      </a:r>
                      <a:r>
                        <a:rPr sz="1800"/>
                        <a:t>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711960" y="1638300"/>
            <a:ext cx="591820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PROJECT CAPEX PO details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BMW RAD LINE</a:t>
            </a:r>
            <a:endParaRPr lang="en-US" altLang="en-IN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8000844" y="8001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ROI CALCULATION 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BMW RAD LINE</a:t>
            </a:r>
            <a:endParaRPr lang="en-IN" altLang="en-US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76200" y="2367280"/>
          <a:ext cx="8798560" cy="5300344"/>
        </p:xfrm>
        <a:graphic>
          <a:graphicData uri="http://schemas.openxmlformats.org/drawingml/2006/table">
            <a:tbl>
              <a:tblPr/>
              <a:tblGrid>
                <a:gridCol w="606425"/>
                <a:gridCol w="749300"/>
                <a:gridCol w="1499870"/>
                <a:gridCol w="1423670"/>
                <a:gridCol w="627380"/>
                <a:gridCol w="1143000"/>
                <a:gridCol w="802005"/>
                <a:gridCol w="1082675"/>
                <a:gridCol w="864235"/>
              </a:tblGrid>
              <a:tr h="984885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2202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67373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7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0%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8,05,600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7500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6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0,78,800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758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4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,67,600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Total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100%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0" b="1" i="0">
                        <a:solidFill>
                          <a:schemeClr val="tx1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1,23</a:t>
                      </a:r>
                      <a:r>
                        <a:rPr lang="en-IN" sz="20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,71,600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5779770" y="9715500"/>
            <a:ext cx="71824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K-palayam (RAD)| Project : AMR(cobots)</a:t>
            </a:r>
            <a:endParaRPr lang="en-US" altLang="en-GB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 Box 13"/>
          <p:cNvSpPr txBox="1"/>
          <p:nvPr/>
        </p:nvSpPr>
        <p:spPr>
          <a:xfrm>
            <a:off x="6694170" y="9563100"/>
            <a:ext cx="71824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K-palayam (RAD)| Project : AMR(cobots)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2514600" y="1790700"/>
          <a:ext cx="12190730" cy="7479347"/>
        </p:xfrm>
        <a:graphic>
          <a:graphicData uri="http://schemas.openxmlformats.org/drawingml/2006/table">
            <a:tbl>
              <a:tblPr firstCol="1">
                <a:tableStyleId>{21E4AEA4-8DFA-4A89-87EB-49C32662AFE0}</a:tableStyleId>
              </a:tblPr>
              <a:tblGrid>
                <a:gridCol w="3136265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  <a:gridCol w="422275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</a:tblGrid>
              <a:tr h="515620">
                <a:tc gridSpan="25"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BMW RAD LINE ACTIVITY CHART</a:t>
                      </a:r>
                      <a:endParaRPr sz="2000"/>
                    </a:p>
                  </a:txBody>
                  <a:tcPr marL="9842" marR="9842" marT="9842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0685"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Jun</a:t>
                      </a:r>
                      <a:endParaRPr sz="20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Jul</a:t>
                      </a:r>
                      <a:endParaRPr sz="20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Aug</a:t>
                      </a:r>
                      <a:endParaRPr sz="20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Sep</a:t>
                      </a:r>
                      <a:endParaRPr sz="20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Oct</a:t>
                      </a:r>
                      <a:endParaRPr sz="20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Nov</a:t>
                      </a:r>
                      <a:endParaRPr sz="20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835"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Week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3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4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5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6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7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8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9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10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11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12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13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14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15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16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17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18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19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20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21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22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23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24</a:t>
                      </a:r>
                      <a:endParaRPr sz="2000"/>
                    </a:p>
                  </a:txBody>
                  <a:tcPr marL="9842" marR="9842" marT="9842" marB="0" anchor="b"/>
                </a:tc>
              </a:tr>
              <a:tr h="619125"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Receipt of Purchase order / LOI 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</a:tr>
              <a:tr h="104140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Detailed layout , Drawing and BOQ submission for Approval</a:t>
                      </a:r>
                      <a:endParaRPr sz="20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</a:tr>
              <a:tr h="630555"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Manufacturing - Mechanical</a:t>
                      </a:r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</a:tr>
              <a:tr h="57277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Manufacturing - Electrical</a:t>
                      </a:r>
                      <a:endParaRPr sz="20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</a:tr>
              <a:tr h="68834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Assembly - Mechanical</a:t>
                      </a:r>
                      <a:endParaRPr sz="20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</a:tr>
              <a:tr h="1006475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Assembly - Electrical (including Panel interface)</a:t>
                      </a:r>
                      <a:endParaRPr sz="20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</a:tr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Internal Trials (no load test)</a:t>
                      </a:r>
                      <a:endParaRPr sz="20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</a:tr>
              <a:tr h="457835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FAT Test</a:t>
                      </a:r>
                      <a:endParaRPr sz="20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/>
                </a:tc>
              </a:tr>
              <a:tr h="57277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I&amp;C</a:t>
                      </a:r>
                      <a:endParaRPr sz="20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735513" y="1028700"/>
            <a:ext cx="871791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ACTIVITY IMPLEMENTATION STATUS</a:t>
            </a:r>
            <a:r>
              <a:rPr lang="en-IN" alt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 </a:t>
            </a:r>
            <a:r>
              <a:rPr lang="en-US" altLang="en-IN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BMW RAD LINE</a:t>
            </a:r>
            <a:endParaRPr lang="en-US" altLang="en-IN" sz="2400" b="1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382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1828800" y="419100"/>
            <a:ext cx="1197800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>
              <a:buNone/>
            </a:pPr>
            <a:r>
              <a:rPr lang="en-US" sz="32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HELICAL LINE - </a:t>
            </a:r>
            <a:endParaRPr lang="en-US" sz="32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  <a:p>
            <a:pPr marL="0" indent="0" algn="l">
              <a:buNone/>
            </a:pPr>
            <a:r>
              <a:rPr lang="en-US" sz="32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Machine Tending Operation using Cobots</a:t>
            </a:r>
            <a:endParaRPr lang="en-US" sz="32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729095" y="9639300"/>
            <a:ext cx="4830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GB" sz="2800" b="1">
                <a:solidFill>
                  <a:schemeClr val="bg1"/>
                </a:solidFill>
              </a:rPr>
              <a:t>Plant : P - Palayam |Helical Line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447800" y="3086100"/>
            <a:ext cx="558800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Transformation from manual or conventional robotic operations to collaborative cobot systems at Stellantis line . </a:t>
            </a:r>
            <a:endParaRPr lang="en-US" b="1">
              <a:solidFill>
                <a:schemeClr val="bg2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Enables safe human–robot collaboration in shared workspaces without safety cages, improving flexibility and ergonomics.</a:t>
            </a:r>
            <a:endParaRPr lang="en-US" b="1">
              <a:solidFill>
                <a:schemeClr val="bg2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Cobots handle repetitive tasks while humans focus on supervision, quality, and decision-making for higher productivity.</a:t>
            </a:r>
            <a:endParaRPr lang="en-GB" altLang="en-US">
              <a:latin typeface="Gill Sans MT" panose="020B0802020104020203" charset="0"/>
              <a:cs typeface="Gill Sans MT" panose="020B0802020104020203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3</a:t>
            </a:r>
            <a:endParaRPr lang="en-US" altLang="en-GB" sz="3600" b="1"/>
          </a:p>
        </p:txBody>
      </p:sp>
      <p:sp>
        <p:nvSpPr>
          <p:cNvPr id="8" name="Text Box 7"/>
          <p:cNvSpPr txBox="1"/>
          <p:nvPr/>
        </p:nvSpPr>
        <p:spPr>
          <a:xfrm>
            <a:off x="1737995" y="7955280"/>
            <a:ext cx="45192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>
                <a:solidFill>
                  <a:schemeClr val="bg1"/>
                </a:solidFill>
              </a:rPr>
              <a:t>Note : Under DAP Submission , POC completed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6230600" y="2667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2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33335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 Box 13"/>
          <p:cNvSpPr txBox="1"/>
          <p:nvPr/>
        </p:nvSpPr>
        <p:spPr>
          <a:xfrm>
            <a:off x="6694170" y="9715500"/>
            <a:ext cx="6580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 (Helical)| Project : cobots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479041" y="647700"/>
            <a:ext cx="413385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PROJECT BOM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HELICAL LINE</a:t>
            </a:r>
            <a:endParaRPr lang="en-US" altLang="en-IN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15400" y="342900"/>
            <a:ext cx="0" cy="94107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/>
          <p:nvPr/>
        </p:nvGraphicFramePr>
        <p:xfrm>
          <a:off x="9220200" y="1013460"/>
          <a:ext cx="8968740" cy="8664575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3836670"/>
                <a:gridCol w="2752725"/>
                <a:gridCol w="2379345"/>
              </a:tblGrid>
              <a:tr h="41275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Parameter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/>
                        <a:t>Unit Cost</a:t>
                      </a:r>
                      <a:endParaRPr lang="en-US"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Value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41338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Total Machines Automated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08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51435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Total Cobots Used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1yaskava + 2UR 12e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44196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Operators Required per Shift (Current)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8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39878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Total Shifts per Day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3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38481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Total Operators Required per Day (Current)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8 × 3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24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39878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Salary per Operator per Month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22,000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37020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Current Monthly Manpower Cost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24 × 22,000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5,28,000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38481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Current Annual Manpower Cost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5,28,000 × 12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63,36,000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39878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Operators Required After Automation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/>
                        <a:t>6</a:t>
                      </a:r>
                      <a:endParaRPr lang="en-US" sz="1800"/>
                    </a:p>
                  </a:txBody>
                  <a:tcPr marL="9842" marR="9842" marT="9842" marB="0" anchor="ctr"/>
                </a:tc>
              </a:tr>
              <a:tr h="39878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Monthly Manpower Cost After Automation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/>
                        <a:t>6</a:t>
                      </a:r>
                      <a:r>
                        <a:rPr sz="1800"/>
                        <a:t> × 22,000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1,</a:t>
                      </a:r>
                      <a:r>
                        <a:rPr lang="en-US" sz="1800"/>
                        <a:t>32</a:t>
                      </a:r>
                      <a:r>
                        <a:rPr sz="1800"/>
                        <a:t>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55816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Annual Manpower Cost After Automation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1,</a:t>
                      </a:r>
                      <a:r>
                        <a:rPr lang="en-US" sz="1800"/>
                        <a:t>32</a:t>
                      </a:r>
                      <a:r>
                        <a:rPr sz="1800"/>
                        <a:t>,000 × 12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</a:t>
                      </a:r>
                      <a:r>
                        <a:rPr lang="en-US" sz="1800"/>
                        <a:t>15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84</a:t>
                      </a:r>
                      <a:r>
                        <a:rPr sz="1800"/>
                        <a:t>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Annual Savings Due to Automation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63,36,000 − </a:t>
                      </a:r>
                      <a:r>
                        <a:rPr lang="en-US" sz="1800"/>
                        <a:t>15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84</a:t>
                      </a:r>
                      <a:r>
                        <a:rPr sz="1800"/>
                        <a:t>,000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</a:t>
                      </a:r>
                      <a:r>
                        <a:rPr lang="en-US" sz="1800"/>
                        <a:t>47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52</a:t>
                      </a:r>
                      <a:r>
                        <a:rPr sz="1800"/>
                        <a:t>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49974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Total Automation Project Cost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93,52,000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413385"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ROI Payback Period (Years)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93,52,000 ÷ </a:t>
                      </a:r>
                      <a:r>
                        <a:rPr lang="en-US" sz="2000" b="1" u="sng"/>
                        <a:t>47</a:t>
                      </a:r>
                      <a:r>
                        <a:rPr sz="2000" b="1" u="sng"/>
                        <a:t>,</a:t>
                      </a:r>
                      <a:r>
                        <a:rPr lang="en-US" sz="2000" b="1" u="sng"/>
                        <a:t>52</a:t>
                      </a:r>
                      <a:r>
                        <a:rPr sz="2000" b="1" u="sng"/>
                        <a:t>,000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sng"/>
                        <a:t>1</a:t>
                      </a:r>
                      <a:r>
                        <a:rPr sz="2000" b="1" u="sng"/>
                        <a:t>.</a:t>
                      </a:r>
                      <a:r>
                        <a:rPr lang="en-US" sz="2000" b="1" u="sng"/>
                        <a:t>96</a:t>
                      </a:r>
                      <a:r>
                        <a:rPr sz="2000" b="1" u="sng"/>
                        <a:t> Years</a:t>
                      </a:r>
                      <a:endParaRPr sz="2000" b="1" u="sng"/>
                    </a:p>
                  </a:txBody>
                  <a:tcPr marL="9842" marR="9842" marT="9842" marB="0" anchor="ctr"/>
                </a:tc>
              </a:tr>
              <a:tr h="42735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ROI Payback Period (Months)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/>
                        <a:t>1</a:t>
                      </a:r>
                      <a:r>
                        <a:rPr sz="1800"/>
                        <a:t>.</a:t>
                      </a:r>
                      <a:r>
                        <a:rPr lang="en-US" sz="1800"/>
                        <a:t>9</a:t>
                      </a:r>
                      <a:r>
                        <a:rPr sz="1800"/>
                        <a:t>6 × 12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2</a:t>
                      </a:r>
                      <a:r>
                        <a:rPr lang="en-US" sz="1800"/>
                        <a:t>3</a:t>
                      </a:r>
                      <a:r>
                        <a:rPr sz="1800"/>
                        <a:t> Months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  <a:tr h="5162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sz="1800">
                          <a:sym typeface="+mn-ea"/>
                        </a:rPr>
                        <a:t>Operator Reduction</a:t>
                      </a:r>
                      <a:r>
                        <a:rPr lang="en-US" sz="1800">
                          <a:sym typeface="+mn-ea"/>
                        </a:rPr>
                        <a:t> per shift</a:t>
                      </a:r>
                      <a:endParaRPr lang="en-US" altLang="en-US"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US" sz="1800"/>
                        <a:t>08 - 02</a:t>
                      </a:r>
                      <a:endParaRPr lang="en-US" altLang="en-US"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800">
                          <a:sym typeface="+mn-ea"/>
                        </a:rPr>
                        <a:t>06</a:t>
                      </a:r>
                      <a:r>
                        <a:rPr sz="1800">
                          <a:sym typeface="+mn-ea"/>
                        </a:rPr>
                        <a:t> Operators Reduced</a:t>
                      </a:r>
                      <a:endParaRPr lang="en-GB" altLang="en-US" sz="1800"/>
                    </a:p>
                  </a:txBody>
                  <a:tcPr marL="9842" marR="9842" marT="9842" marB="0" anchor="ctr"/>
                </a:tc>
              </a:tr>
              <a:tr h="516255">
                <a:tc>
                  <a:txBody>
                    <a:bodyPr/>
                    <a:lstStyle/>
                    <a:p>
                      <a:pPr algn="ctr" fontAlgn="ctr"/>
                      <a:r>
                        <a:rPr sz="2000" b="1"/>
                        <a:t>Operator Reduction</a:t>
                      </a:r>
                      <a:r>
                        <a:rPr lang="en-US" sz="2000" b="1"/>
                        <a:t> per day</a:t>
                      </a:r>
                      <a:endParaRPr lang="en-US" sz="20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/>
                        <a:t>24</a:t>
                      </a:r>
                      <a:r>
                        <a:rPr sz="2000" b="1"/>
                        <a:t> − 0</a:t>
                      </a:r>
                      <a:r>
                        <a:rPr lang="en-US" sz="2000" b="1"/>
                        <a:t>6</a:t>
                      </a:r>
                      <a:endParaRPr lang="en-US" sz="20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/>
                        <a:t>18</a:t>
                      </a:r>
                      <a:r>
                        <a:rPr sz="2000" b="1"/>
                        <a:t> Operators Reduced</a:t>
                      </a:r>
                      <a:endParaRPr sz="2000" b="1"/>
                    </a:p>
                  </a:txBody>
                  <a:tcPr marL="9842" marR="9842" marT="9842" marB="0" anchor="ctr"/>
                </a:tc>
              </a:tr>
              <a:tr h="499110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Savings After 5 Years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(</a:t>
                      </a:r>
                      <a:r>
                        <a:rPr lang="en-US" sz="1800"/>
                        <a:t>47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52</a:t>
                      </a:r>
                      <a:r>
                        <a:rPr sz="1800"/>
                        <a:t>,000 × 5) − 93,52,000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</a:t>
                      </a:r>
                      <a:r>
                        <a:rPr lang="en-IN" sz="1800"/>
                        <a:t>1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4</a:t>
                      </a:r>
                      <a:r>
                        <a:rPr lang="en-IN" sz="1800"/>
                        <a:t>4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0</a:t>
                      </a:r>
                      <a:r>
                        <a:rPr sz="1800"/>
                        <a:t>8,000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</a:tbl>
          </a:graphicData>
        </a:graphic>
      </p:graphicFrame>
      <p:sp>
        <p:nvSpPr>
          <p:cNvPr id="12" name="TextBox 4"/>
          <p:cNvSpPr txBox="1"/>
          <p:nvPr/>
        </p:nvSpPr>
        <p:spPr>
          <a:xfrm>
            <a:off x="8000844" y="5715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ROI CALCULATION 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HELICAL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LINE</a:t>
            </a:r>
            <a:endParaRPr lang="en-IN" altLang="en-US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152400" y="2959100"/>
          <a:ext cx="8519795" cy="4217669"/>
        </p:xfrm>
        <a:graphic>
          <a:graphicData uri="http://schemas.openxmlformats.org/drawingml/2006/table">
            <a:tbl>
              <a:tblPr/>
              <a:tblGrid>
                <a:gridCol w="619125"/>
                <a:gridCol w="708660"/>
                <a:gridCol w="1274445"/>
                <a:gridCol w="1263015"/>
                <a:gridCol w="885825"/>
                <a:gridCol w="1107440"/>
                <a:gridCol w="1014095"/>
                <a:gridCol w="810895"/>
                <a:gridCol w="836295"/>
              </a:tblGrid>
              <a:tr h="626110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541655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30%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8,05,600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</a:t>
                      </a:r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Jun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65%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6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0,78,800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5%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4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,67,600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229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Total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100%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0" b="1" i="0">
                        <a:solidFill>
                          <a:schemeClr val="tx1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93</a:t>
                      </a:r>
                      <a:r>
                        <a:rPr lang="en-IN" sz="20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,52,000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3" name="Table 2"/>
          <p:cNvGraphicFramePr/>
          <p:nvPr/>
        </p:nvGraphicFramePr>
        <p:xfrm>
          <a:off x="3352800" y="2400300"/>
          <a:ext cx="12190730" cy="6317615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3136265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303530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  <a:gridCol w="422275"/>
                <a:gridCol w="421005"/>
                <a:gridCol w="421640"/>
                <a:gridCol w="421640"/>
                <a:gridCol w="421640"/>
                <a:gridCol w="421005"/>
                <a:gridCol w="422275"/>
                <a:gridCol w="421005"/>
              </a:tblGrid>
              <a:tr h="443865">
                <a:tc gridSpan="25">
                  <a:txBody>
                    <a:bodyPr/>
                    <a:lstStyle/>
                    <a:p>
                      <a:pPr algn="ctr" fontAlgn="ctr"/>
                      <a:r>
                        <a:rPr lang="en-IN" sz="2000"/>
                        <a:t>HELICAL</a:t>
                      </a:r>
                      <a:r>
                        <a:rPr sz="2000"/>
                        <a:t> LINE ACTIVITY CHART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Jun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Jul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Aug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Sep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Oct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2000"/>
                        <a:t>Nov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29260"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Week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3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4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5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6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7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8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9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10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11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12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13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14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15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16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17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18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19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20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21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22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23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2000"/>
                        <a:t>24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Receipt of Purchase order / LOI 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Detailed layout , Drawing and BOQ submission for Approval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Manufacturing - Mechanical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Manufacturing - Electrical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00685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Assembly - Mechanical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7691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Assembly - Electrical (including Panel interface)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Internal Trials (no load test)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14655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FAT Test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algn="ctr" fontAlgn="ctr"/>
                      <a:r>
                        <a:rPr sz="2000"/>
                        <a:t>I&amp;C</a:t>
                      </a:r>
                      <a:endParaRPr sz="2000"/>
                    </a:p>
                  </a:txBody>
                  <a:tcPr marL="9842" marR="9842" marT="9842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2000"/>
                        <a:t>x</a:t>
                      </a:r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2000"/>
                    </a:p>
                  </a:txBody>
                  <a:tcPr marL="9842" marR="9842" marT="9842" marB="0" anchor="b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842828" y="1333500"/>
            <a:ext cx="850328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ACTIVITY IMPLEMENTATION STATUS</a:t>
            </a:r>
            <a:r>
              <a:rPr lang="en-IN" alt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 </a:t>
            </a:r>
            <a:r>
              <a:rPr lang="en-US" altLang="en-IN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HELICAL LINE</a:t>
            </a:r>
            <a:endParaRPr lang="en-US" altLang="en-IN" sz="2400" b="1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694170" y="9715500"/>
            <a:ext cx="6580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 (Helical)| Project : cobots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382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1447800" y="419100"/>
            <a:ext cx="119780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ATHER LINE - Machine Tending Operation using Cobots</a:t>
            </a:r>
            <a:endParaRPr lang="en-US" sz="32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4</a:t>
            </a:r>
            <a:endParaRPr lang="en-US" altLang="en-GB" sz="3600" b="1"/>
          </a:p>
        </p:txBody>
      </p:sp>
      <p:cxnSp>
        <p:nvCxnSpPr>
          <p:cNvPr id="10" name="Straight Connector 9"/>
          <p:cNvCxnSpPr/>
          <p:nvPr/>
        </p:nvCxnSpPr>
        <p:spPr>
          <a:xfrm>
            <a:off x="9144000" y="1257300"/>
            <a:ext cx="0" cy="8604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/>
          <p:nvPr/>
        </p:nvGraphicFramePr>
        <p:xfrm>
          <a:off x="9296400" y="1663700"/>
          <a:ext cx="8780145" cy="8232140"/>
        </p:xfrm>
        <a:graphic>
          <a:graphicData uri="http://schemas.openxmlformats.org/drawingml/2006/table">
            <a:tbl>
              <a:tblPr lastRow="1">
                <a:tableStyleId>{00A15C55-8517-42AA-B614-E9B94910E393}</a:tableStyleId>
              </a:tblPr>
              <a:tblGrid>
                <a:gridCol w="3535045"/>
                <a:gridCol w="2999740"/>
                <a:gridCol w="2245360"/>
              </a:tblGrid>
              <a:tr h="369570">
                <a:tc>
                  <a:txBody>
                    <a:bodyPr/>
                    <a:lstStyle/>
                    <a:p>
                      <a:pPr algn="ctr" fontAlgn="ctr"/>
                      <a:r>
                        <a:rPr sz="1800" b="1"/>
                        <a:t>Parameter</a:t>
                      </a:r>
                      <a:endParaRPr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/>
                        <a:t>Unit Cost</a:t>
                      </a:r>
                      <a:endParaRPr lang="en-US"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1"/>
                        <a:t>Value</a:t>
                      </a:r>
                      <a:endParaRPr sz="1800" b="1"/>
                    </a:p>
                  </a:txBody>
                  <a:tcPr marL="9842" marR="9842" marT="9842" marB="0" anchor="ctr"/>
                </a:tc>
              </a:tr>
              <a:tr h="44132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Machines Automated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6957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Cobots Used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5 ABB 12kg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5496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per Shift (Current)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7053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Shifts per Day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3</a:t>
                      </a:r>
                      <a:endParaRPr lang="en-US" sz="1600"/>
                    </a:p>
                  </a:txBody>
                  <a:tcPr marL="9842" marR="9842" marT="9842" marB="0" anchor="ctr"/>
                </a:tc>
              </a:tr>
              <a:tr h="49911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Operators Required per Day (Current)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10 × 3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30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4132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Salary per Operator per Month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22,000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4132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Monthly Manpower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30 × 22,000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6,60,000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2672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Annual Manpower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/>
                        <a:t>6</a:t>
                      </a:r>
                      <a:r>
                        <a:rPr sz="1600"/>
                        <a:t>,</a:t>
                      </a:r>
                      <a:r>
                        <a:rPr lang="en-IN" sz="1600"/>
                        <a:t>60</a:t>
                      </a:r>
                      <a:r>
                        <a:rPr sz="1600"/>
                        <a:t>,000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79,20,000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4132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6</a:t>
                      </a:r>
                      <a:endParaRPr lang="en-US" sz="1600"/>
                    </a:p>
                  </a:txBody>
                  <a:tcPr marL="9842" marR="9842" marT="9842" marB="0" anchor="ctr"/>
                </a:tc>
              </a:tr>
              <a:tr h="61214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Monthly Manpower Cost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6</a:t>
                      </a:r>
                      <a:r>
                        <a:rPr sz="1600"/>
                        <a:t> × 22,000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1,</a:t>
                      </a:r>
                      <a:r>
                        <a:rPr lang="en-US" sz="1600"/>
                        <a:t>32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7053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Manpower Cost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1,</a:t>
                      </a:r>
                      <a:r>
                        <a:rPr lang="en-US" sz="1600"/>
                        <a:t>32</a:t>
                      </a:r>
                      <a:r>
                        <a:rPr sz="1600"/>
                        <a:t>,000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15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84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51308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Savings Due to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79,20,000 − </a:t>
                      </a:r>
                      <a:r>
                        <a:rPr lang="en-US" sz="1600"/>
                        <a:t>15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84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63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36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9941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Automation Project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1,29,82,000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6957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ROI Payback Period (Years)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1,29,82,000 ÷ </a:t>
                      </a:r>
                      <a:r>
                        <a:rPr lang="en-US" sz="2000" b="1" u="sng"/>
                        <a:t>63</a:t>
                      </a:r>
                      <a:r>
                        <a:rPr sz="2000" b="1" u="sng"/>
                        <a:t>,</a:t>
                      </a:r>
                      <a:r>
                        <a:rPr lang="en-US" sz="2000" b="1" u="sng"/>
                        <a:t>36</a:t>
                      </a:r>
                      <a:r>
                        <a:rPr sz="2000" b="1" u="sng"/>
                        <a:t>,000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2.</a:t>
                      </a:r>
                      <a:r>
                        <a:rPr lang="en-US" sz="2000" b="1" u="sng"/>
                        <a:t>0</a:t>
                      </a:r>
                      <a:r>
                        <a:rPr sz="2000" b="1" u="sng"/>
                        <a:t> Years</a:t>
                      </a:r>
                      <a:endParaRPr sz="2000" b="1" u="sng"/>
                    </a:p>
                  </a:txBody>
                  <a:tcPr marL="9842" marR="9842" marT="9842" marB="0" anchor="ctr"/>
                </a:tc>
              </a:tr>
              <a:tr h="38417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ROI Payback Period (Months)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2.</a:t>
                      </a:r>
                      <a:r>
                        <a:rPr lang="en-US" sz="1600"/>
                        <a:t>0</a:t>
                      </a:r>
                      <a:r>
                        <a:rPr sz="1600"/>
                        <a:t>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2</a:t>
                      </a:r>
                      <a:r>
                        <a:rPr lang="en-US" sz="1600"/>
                        <a:t>4</a:t>
                      </a:r>
                      <a:r>
                        <a:rPr sz="1600"/>
                        <a:t> Months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4099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 Reduction</a:t>
                      </a:r>
                      <a:r>
                        <a:rPr lang="en-US" sz="1600"/>
                        <a:t> per shift</a:t>
                      </a:r>
                      <a:endParaRPr lang="en-US"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10 − 0</a:t>
                      </a:r>
                      <a:r>
                        <a:rPr lang="en-US" sz="1600"/>
                        <a:t>2</a:t>
                      </a:r>
                      <a:endParaRPr lang="en-US"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</a:t>
                      </a:r>
                      <a:r>
                        <a:rPr lang="en-US" sz="1600"/>
                        <a:t>8</a:t>
                      </a:r>
                      <a:r>
                        <a:rPr sz="1600"/>
                        <a:t> Operators Reduced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4323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sz="1800" b="1">
                          <a:sym typeface="+mn-ea"/>
                        </a:rPr>
                        <a:t>Operator Reduction</a:t>
                      </a:r>
                      <a:r>
                        <a:rPr lang="en-US" sz="1800" b="1">
                          <a:sym typeface="+mn-ea"/>
                        </a:rPr>
                        <a:t> per day</a:t>
                      </a:r>
                      <a:endParaRPr lang="en-US" sz="1800" b="1">
                        <a:sym typeface="+mn-ea"/>
                      </a:endParaRPr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800" b="1"/>
                        <a:t>30 - 06</a:t>
                      </a:r>
                      <a:endParaRPr lang="en-US" altLang="en-GB"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800" b="1"/>
                        <a:t>24 </a:t>
                      </a:r>
                      <a:r>
                        <a:rPr sz="1800" b="1">
                          <a:sym typeface="+mn-ea"/>
                        </a:rPr>
                        <a:t>Operator Reduc</a:t>
                      </a:r>
                      <a:r>
                        <a:rPr lang="en-US" sz="1800" b="1">
                          <a:sym typeface="+mn-ea"/>
                        </a:rPr>
                        <a:t>ed</a:t>
                      </a:r>
                      <a:endParaRPr lang="en-US" sz="1800" b="1">
                        <a:sym typeface="+mn-ea"/>
                      </a:endParaRPr>
                    </a:p>
                  </a:txBody>
                  <a:tcPr marL="9842" marR="9842" marT="9842" marB="0" anchor="ctr"/>
                </a:tc>
              </a:tr>
              <a:tr h="443230">
                <a:tc>
                  <a:txBody>
                    <a:bodyPr/>
                    <a:lstStyle/>
                    <a:p>
                      <a:pPr algn="ctr" fontAlgn="ctr"/>
                      <a:r>
                        <a:rPr sz="1800" b="1"/>
                        <a:t>Savings After 5 Years</a:t>
                      </a:r>
                      <a:endParaRPr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1"/>
                        <a:t>(</a:t>
                      </a:r>
                      <a:r>
                        <a:rPr lang="en-US" sz="1800" b="1"/>
                        <a:t>63</a:t>
                      </a:r>
                      <a:r>
                        <a:rPr sz="1800" b="1"/>
                        <a:t>,</a:t>
                      </a:r>
                      <a:r>
                        <a:rPr lang="en-US" sz="1800" b="1"/>
                        <a:t>36</a:t>
                      </a:r>
                      <a:r>
                        <a:rPr sz="1800" b="1"/>
                        <a:t>,000 × 5) − 1,29,82,000</a:t>
                      </a:r>
                      <a:endParaRPr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 b="1"/>
                        <a:t>₹ 1,</a:t>
                      </a:r>
                      <a:r>
                        <a:rPr lang="en-US" sz="1800" b="1"/>
                        <a:t>86</a:t>
                      </a:r>
                      <a:r>
                        <a:rPr sz="1800" b="1"/>
                        <a:t>,</a:t>
                      </a:r>
                      <a:r>
                        <a:rPr lang="en-US" sz="1800" b="1"/>
                        <a:t>9</a:t>
                      </a:r>
                      <a:r>
                        <a:rPr sz="1800" b="1"/>
                        <a:t>8,000</a:t>
                      </a:r>
                      <a:endParaRPr sz="1800" b="1"/>
                    </a:p>
                  </a:txBody>
                  <a:tcPr marL="9842" marR="9842" marT="9842" marB="0" anchor="ctr"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619250" y="2552700"/>
            <a:ext cx="580771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PROJECT CAPEX PO DETAILS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ATHER LINE</a:t>
            </a:r>
            <a:endParaRPr lang="en-US" altLang="en-IN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12" name="TextBox 4"/>
          <p:cNvSpPr txBox="1"/>
          <p:nvPr/>
        </p:nvSpPr>
        <p:spPr>
          <a:xfrm>
            <a:off x="8000844" y="118618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ROI CALCULATION 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ATHER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LINE</a:t>
            </a:r>
            <a:endParaRPr lang="en-IN" altLang="en-US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41275" y="3238500"/>
          <a:ext cx="9020810" cy="4635817"/>
        </p:xfrm>
        <a:graphic>
          <a:graphicData uri="http://schemas.openxmlformats.org/drawingml/2006/table">
            <a:tbl>
              <a:tblPr/>
              <a:tblGrid>
                <a:gridCol w="681355"/>
                <a:gridCol w="867410"/>
                <a:gridCol w="1506855"/>
                <a:gridCol w="1456055"/>
                <a:gridCol w="1086485"/>
                <a:gridCol w="864235"/>
                <a:gridCol w="850265"/>
                <a:gridCol w="840740"/>
                <a:gridCol w="867410"/>
              </a:tblGrid>
              <a:tr h="744855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7947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5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0%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64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,91,000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01-Jul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40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51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,92,800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20-Oct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12</a:t>
                      </a:r>
                      <a:r>
                        <a:rPr lang="en-IN"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,98,200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10-Nov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Total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100%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0" b="1" i="0">
                        <a:solidFill>
                          <a:schemeClr val="tx1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1,29</a:t>
                      </a:r>
                      <a:r>
                        <a:rPr lang="en-IN" sz="2000" b="1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,82,000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6694170" y="9791700"/>
            <a:ext cx="64166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 (Ather)| Project : cobots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16154400" y="2667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2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 Box 4"/>
          <p:cNvSpPr txBox="1"/>
          <p:nvPr/>
        </p:nvSpPr>
        <p:spPr>
          <a:xfrm>
            <a:off x="4842828" y="1333500"/>
            <a:ext cx="850328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ACTIVITY IMPLEMENTATION STATUS</a:t>
            </a:r>
            <a:r>
              <a:rPr lang="en-IN" alt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 </a:t>
            </a:r>
            <a:r>
              <a:rPr lang="en-US" altLang="en-IN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HELICAL LINE</a:t>
            </a:r>
            <a:endParaRPr lang="en-US" altLang="en-IN" sz="2400" b="1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3837305" y="2171700"/>
          <a:ext cx="10420350" cy="6791960"/>
        </p:xfrm>
        <a:graphic>
          <a:graphicData uri="http://schemas.openxmlformats.org/drawingml/2006/table">
            <a:tbl>
              <a:tblPr firstCol="1">
                <a:tableStyleId>{00A15C55-8517-42AA-B614-E9B94910E393}</a:tableStyleId>
              </a:tblPr>
              <a:tblGrid>
                <a:gridCol w="2633345"/>
                <a:gridCol w="249555"/>
                <a:gridCol w="249555"/>
                <a:gridCol w="248285"/>
                <a:gridCol w="249555"/>
                <a:gridCol w="249555"/>
                <a:gridCol w="248920"/>
                <a:gridCol w="249555"/>
                <a:gridCol w="249555"/>
                <a:gridCol w="248920"/>
                <a:gridCol w="368935"/>
                <a:gridCol w="370205"/>
                <a:gridCol w="368935"/>
                <a:gridCol w="370205"/>
                <a:gridCol w="369570"/>
                <a:gridCol w="369570"/>
                <a:gridCol w="369570"/>
                <a:gridCol w="370205"/>
                <a:gridCol w="368935"/>
                <a:gridCol w="370205"/>
                <a:gridCol w="368300"/>
                <a:gridCol w="370205"/>
                <a:gridCol w="369570"/>
                <a:gridCol w="369570"/>
                <a:gridCol w="369570"/>
              </a:tblGrid>
              <a:tr h="389255">
                <a:tc gridSpan="25"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ATHER LINE ACTIVITY CHART</a:t>
                      </a:r>
                      <a:endParaRPr sz="1600"/>
                    </a:p>
                  </a:txBody>
                  <a:tcPr marL="9842" marR="9842" marT="9842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Jul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Aug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Sep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Oct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Nov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Dec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9255"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Week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3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4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5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6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7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8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9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10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11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12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13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14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15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16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17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18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19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20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21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22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23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24</a:t>
                      </a:r>
                      <a:endParaRPr sz="1600"/>
                    </a:p>
                  </a:txBody>
                  <a:tcPr marL="9842" marR="9842" marT="9842" marB="0" anchor="b"/>
                </a:tc>
              </a:tr>
              <a:tr h="685165"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Receipt of Purchase order / LOI 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89408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Detailed layout , Drawing and BOQ submission for Approval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713740"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Manufacturing - Mechanical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75692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Manufacturing - Electrical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36068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Assembly - Mechanical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93726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Assembly - Electrical (including Panel interface)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59880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Internal Trials (no load test)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37465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FAT Test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  <a:tr h="30289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I&amp;C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>
                          <a:solidFill>
                            <a:schemeClr val="bg1"/>
                          </a:solidFill>
                        </a:rPr>
                        <a:t>x</a:t>
                      </a:r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>
                        <a:solidFill>
                          <a:schemeClr val="bg1"/>
                        </a:solidFill>
                      </a:endParaRPr>
                    </a:p>
                  </a:txBody>
                  <a:tcPr marL="9842" marR="9842" marT="9842" marB="0" anchor="b"/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6694170" y="9715500"/>
            <a:ext cx="64166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 (Ather)| Project : cobots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382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1447800" y="419100"/>
            <a:ext cx="119780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lang="en-US" sz="3200" b="1" u="sng">
                <a:solidFill>
                  <a:srgbClr val="FFFFFF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DAIMLER LINE - Machine Tending Operation using Cobots</a:t>
            </a:r>
            <a:endParaRPr lang="en-US" sz="3200" b="1" u="sng">
              <a:solidFill>
                <a:srgbClr val="FFFFFF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637973" y="9639300"/>
            <a:ext cx="50126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en-GB" sz="2800" b="1">
                <a:solidFill>
                  <a:schemeClr val="bg1"/>
                </a:solidFill>
              </a:rPr>
              <a:t>Plant : P - Palayam |Daimler Line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52800" y="2857500"/>
            <a:ext cx="558800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Transformation from manual or conventional robotic operations to collaborative cobot systems at Stellantis line . </a:t>
            </a:r>
            <a:endParaRPr lang="en-US" b="1">
              <a:solidFill>
                <a:schemeClr val="bg2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Enables safe human–robot collaboration in shared workspaces without safety cages, improving flexibility and ergonomics.</a:t>
            </a:r>
            <a:endParaRPr lang="en-US" b="1">
              <a:solidFill>
                <a:schemeClr val="bg2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2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Cobots handle repetitive tasks while humans focus on supervision, quality, and decision-making for higher productivity.</a:t>
            </a:r>
            <a:endParaRPr lang="en-GB" altLang="en-US">
              <a:latin typeface="Gill Sans MT" panose="020B0802020104020203" charset="0"/>
              <a:cs typeface="Gill Sans MT" panose="020B0802020104020203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81000" y="2667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 sz="3600" b="1"/>
              <a:t>5</a:t>
            </a:r>
            <a:endParaRPr lang="en-US" altLang="en-GB" sz="3600" b="1"/>
          </a:p>
        </p:txBody>
      </p:sp>
      <p:sp>
        <p:nvSpPr>
          <p:cNvPr id="8" name="Text Box 7"/>
          <p:cNvSpPr txBox="1"/>
          <p:nvPr/>
        </p:nvSpPr>
        <p:spPr>
          <a:xfrm>
            <a:off x="3733800" y="7581900"/>
            <a:ext cx="45466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>
                <a:solidFill>
                  <a:schemeClr val="bg1"/>
                </a:solidFill>
              </a:rPr>
              <a:t>Note : Under DAP Submission , POC Completed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5925800" y="342900"/>
            <a:ext cx="1752600" cy="533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GB">
                <a:hlinkClick r:id="rId2" action="ppaction://hlinksldjump"/>
              </a:rPr>
              <a:t>Home</a:t>
            </a:r>
            <a:endParaRPr lang="en-US" alt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33335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 Box 13"/>
          <p:cNvSpPr txBox="1"/>
          <p:nvPr/>
        </p:nvSpPr>
        <p:spPr>
          <a:xfrm>
            <a:off x="6694170" y="9715500"/>
            <a:ext cx="67627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 (Daimler)| Project : cobots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392238" y="1866900"/>
            <a:ext cx="609917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PROJECT CAPEX PO DETAILS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DAIMLER LINE</a:t>
            </a:r>
            <a:endParaRPr lang="en-US" altLang="en-IN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15400" y="342900"/>
            <a:ext cx="0" cy="94107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4"/>
          <p:cNvSpPr txBox="1"/>
          <p:nvPr/>
        </p:nvSpPr>
        <p:spPr>
          <a:xfrm>
            <a:off x="8000844" y="5715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ROI CALCULATION </a:t>
            </a:r>
            <a:r>
              <a:rPr lang="en-IN" altLang="en-US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-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</a:rPr>
              <a:t>DAIMLER </a:t>
            </a:r>
            <a:r>
              <a:rPr lang="en-US" altLang="en-IN" sz="2000" b="1" u="sng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LINE</a:t>
            </a:r>
            <a:endParaRPr lang="en-IN" altLang="en-US" sz="2000" b="1" u="sng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9164955" y="1277620"/>
          <a:ext cx="8961120" cy="8355330"/>
        </p:xfrm>
        <a:graphic>
          <a:graphicData uri="http://schemas.openxmlformats.org/drawingml/2006/table">
            <a:tbl>
              <a:tblPr lastRow="1">
                <a:tableStyleId>{7DF18680-E054-41AD-8BC1-D1AEF772440D}</a:tableStyleId>
              </a:tblPr>
              <a:tblGrid>
                <a:gridCol w="3959860"/>
                <a:gridCol w="2875280"/>
                <a:gridCol w="2125980"/>
              </a:tblGrid>
              <a:tr h="505460">
                <a:tc>
                  <a:txBody>
                    <a:bodyPr/>
                    <a:lstStyle/>
                    <a:p>
                      <a:pPr algn="ctr" fontAlgn="ctr"/>
                      <a:r>
                        <a:rPr sz="2000" b="1"/>
                        <a:t>Parameter</a:t>
                      </a:r>
                      <a:endParaRPr sz="20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/>
                        <a:t>Unit Cost</a:t>
                      </a:r>
                      <a:endParaRPr lang="en-US" sz="20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/>
                        <a:t>Value</a:t>
                      </a:r>
                      <a:endParaRPr sz="2000" b="1"/>
                    </a:p>
                  </a:txBody>
                  <a:tcPr marL="9842" marR="9842" marT="9842" marB="0" anchor="ctr"/>
                </a:tc>
              </a:tr>
              <a:tr h="41910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Machines Automated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08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7719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Cobots Used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4 UR12e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0513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per Shift (Current)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08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Shifts per Day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3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55499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Operators Required per Day (Current)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08 × 3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24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Salary per Operator per Month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22,000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0576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Monthly Manpower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24 × 22,000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5,28,000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57848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Current Annual Manpower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5,28,000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63,36,000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Operators Required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6</a:t>
                      </a:r>
                      <a:endParaRPr lang="en-US" sz="1600"/>
                    </a:p>
                  </a:txBody>
                  <a:tcPr marL="9842" marR="9842" marT="9842" marB="0" anchor="ctr"/>
                </a:tc>
              </a:tr>
              <a:tr h="48387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Monthly Manpower Cost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6</a:t>
                      </a:r>
                      <a:r>
                        <a:rPr sz="1600"/>
                        <a:t> × 22,000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1,</a:t>
                      </a:r>
                      <a:r>
                        <a:rPr lang="en-US" sz="1600"/>
                        <a:t>32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51181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Manpower Cost After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1,</a:t>
                      </a:r>
                      <a:r>
                        <a:rPr lang="en-US" sz="1600"/>
                        <a:t>32</a:t>
                      </a:r>
                      <a:r>
                        <a:rPr sz="1600"/>
                        <a:t>,000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15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84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7752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Annual Savings Due to Automation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63,36,000 − </a:t>
                      </a:r>
                      <a:r>
                        <a:rPr lang="en-US" sz="1600"/>
                        <a:t>15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84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</a:t>
                      </a:r>
                      <a:r>
                        <a:rPr lang="en-US" sz="1600"/>
                        <a:t>47</a:t>
                      </a:r>
                      <a:r>
                        <a:rPr sz="1600"/>
                        <a:t>,</a:t>
                      </a:r>
                      <a:r>
                        <a:rPr lang="en-US" sz="1600"/>
                        <a:t>52</a:t>
                      </a:r>
                      <a:r>
                        <a:rPr sz="1600"/>
                        <a:t>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0576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Total Automation Project Cost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₹ 1,00,00,000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7752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ROI Payback Period (Years)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1,00,00,000 ÷ </a:t>
                      </a:r>
                      <a:r>
                        <a:rPr lang="en-US" sz="2000" b="1" u="sng"/>
                        <a:t>47</a:t>
                      </a:r>
                      <a:r>
                        <a:rPr sz="2000" b="1" u="sng"/>
                        <a:t>,</a:t>
                      </a:r>
                      <a:r>
                        <a:rPr lang="en-US" sz="2000" b="1" u="sng"/>
                        <a:t>52</a:t>
                      </a:r>
                      <a:r>
                        <a:rPr sz="2000" b="1" u="sng"/>
                        <a:t>,000</a:t>
                      </a:r>
                      <a:endParaRPr sz="2000" b="1" u="sng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000" b="1" u="sng"/>
                        <a:t>2.</a:t>
                      </a:r>
                      <a:r>
                        <a:rPr lang="en-US" sz="2000" b="1" u="sng"/>
                        <a:t>10</a:t>
                      </a:r>
                      <a:r>
                        <a:rPr sz="2000" b="1" u="sng"/>
                        <a:t> Years</a:t>
                      </a:r>
                      <a:endParaRPr sz="2000" b="1" u="sng"/>
                    </a:p>
                  </a:txBody>
                  <a:tcPr marL="9842" marR="9842" marT="9842" marB="0" anchor="ctr"/>
                </a:tc>
              </a:tr>
              <a:tr h="38989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ROI Payback Period (Months)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2.</a:t>
                      </a:r>
                      <a:r>
                        <a:rPr lang="en-US" sz="1600"/>
                        <a:t>10</a:t>
                      </a:r>
                      <a:r>
                        <a:rPr sz="1600"/>
                        <a:t> × 12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/>
                        <a:t>25</a:t>
                      </a:r>
                      <a:r>
                        <a:rPr sz="1600"/>
                        <a:t> Months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44005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Operator Reduction</a:t>
                      </a:r>
                      <a:r>
                        <a:rPr lang="en-US" sz="1600"/>
                        <a:t> per shift</a:t>
                      </a:r>
                      <a:endParaRPr lang="en-US"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08 − 0</a:t>
                      </a:r>
                      <a:r>
                        <a:rPr lang="en-US" sz="1600"/>
                        <a:t>2</a:t>
                      </a:r>
                      <a:endParaRPr lang="en-US"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0</a:t>
                      </a:r>
                      <a:r>
                        <a:rPr lang="en-US" sz="1600"/>
                        <a:t>6</a:t>
                      </a:r>
                      <a:r>
                        <a:rPr sz="1600"/>
                        <a:t> Operators Reduced</a:t>
                      </a:r>
                      <a:endParaRPr sz="1600"/>
                    </a:p>
                  </a:txBody>
                  <a:tcPr marL="9842" marR="9842" marT="9842" marB="0" anchor="ctr"/>
                </a:tc>
              </a:tr>
              <a:tr h="3829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sz="1800" b="1">
                          <a:sym typeface="+mn-ea"/>
                        </a:rPr>
                        <a:t>Operator Reduction</a:t>
                      </a:r>
                      <a:r>
                        <a:rPr lang="en-US" sz="1800" b="1">
                          <a:sym typeface="+mn-ea"/>
                        </a:rPr>
                        <a:t> per day</a:t>
                      </a:r>
                      <a:endParaRPr lang="en-GB" altLang="en-US"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800" b="1"/>
                        <a:t>24 - 06</a:t>
                      </a:r>
                      <a:endParaRPr lang="en-US" altLang="en-GB" sz="1800" b="1"/>
                    </a:p>
                  </a:txBody>
                  <a:tcPr marL="9842" marR="9842" marT="9842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en-GB" sz="1800" b="1"/>
                        <a:t>18 Operators reduced</a:t>
                      </a:r>
                      <a:endParaRPr lang="en-US" altLang="en-GB" sz="1800" b="1"/>
                    </a:p>
                  </a:txBody>
                  <a:tcPr marL="9842" marR="9842" marT="9842" marB="0" anchor="ctr"/>
                </a:tc>
              </a:tr>
              <a:tr h="382905"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Savings After 5 Years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(</a:t>
                      </a:r>
                      <a:r>
                        <a:rPr lang="en-US" sz="1800"/>
                        <a:t>47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52</a:t>
                      </a:r>
                      <a:r>
                        <a:rPr sz="1800"/>
                        <a:t>,000 × 5) − 1,00,00,000</a:t>
                      </a:r>
                      <a:endParaRPr sz="18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800"/>
                        <a:t>₹ </a:t>
                      </a:r>
                      <a:r>
                        <a:rPr lang="en-US" sz="1800"/>
                        <a:t>1,37</a:t>
                      </a:r>
                      <a:r>
                        <a:rPr sz="1800"/>
                        <a:t>,</a:t>
                      </a:r>
                      <a:r>
                        <a:rPr lang="en-US" sz="1800"/>
                        <a:t>6</a:t>
                      </a:r>
                      <a:r>
                        <a:rPr sz="1800"/>
                        <a:t>0,000</a:t>
                      </a:r>
                      <a:endParaRPr sz="1800"/>
                    </a:p>
                  </a:txBody>
                  <a:tcPr marL="9842" marR="9842" marT="9842" marB="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76200" y="2733040"/>
          <a:ext cx="8731250" cy="4821871"/>
        </p:xfrm>
        <a:graphic>
          <a:graphicData uri="http://schemas.openxmlformats.org/drawingml/2006/table">
            <a:tbl>
              <a:tblPr/>
              <a:tblGrid>
                <a:gridCol w="565150"/>
                <a:gridCol w="721360"/>
                <a:gridCol w="1610360"/>
                <a:gridCol w="1412875"/>
                <a:gridCol w="873760"/>
                <a:gridCol w="917575"/>
                <a:gridCol w="675640"/>
                <a:gridCol w="945515"/>
                <a:gridCol w="1009015"/>
              </a:tblGrid>
              <a:tr h="857250">
                <a:tc gridSpan="9"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INVOICING PLAN – STELLANTIS ROBOTIC LINE PROJECT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S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</a:t>
                      </a:r>
                      <a:b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</a:br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%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Milestone Payment Description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Amount (₹)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Planned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Actual Invoice Date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Invoice No.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Payment Status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Remark</a:t>
                      </a:r>
                      <a:endParaRPr sz="1600" b="1" i="0">
                        <a:solidFill>
                          <a:srgbClr val="FFFFFF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50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to Supplier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50,00,000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01-Jul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 (PO date)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Advance paid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40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Delivery at Site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40,00,000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20-Oct 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Delivary at Site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%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Upon Installation &amp; Commissioning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16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10,00,000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10-Nov</a:t>
                      </a:r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-2026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Pending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Installation &amp; Commissioning</a:t>
                      </a:r>
                      <a:endParaRPr lang="en-IN" sz="1600" b="0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Total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100%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₹</a:t>
                      </a:r>
                      <a:r>
                        <a:rPr lang="en-IN" sz="20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1,00,00,000</a:t>
                      </a:r>
                      <a:endParaRPr lang="en-IN" sz="20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600" b="1" i="0">
                        <a:solidFill>
                          <a:srgbClr val="000000"/>
                        </a:solidFill>
                        <a:latin typeface="Calibri" panose="020F0502020204030204" charset="0"/>
                        <a:ea typeface="Arial" panose="020B0604020202020204"/>
                        <a:cs typeface="Calibri" panose="020F0502020204030204" charset="0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 Box 13"/>
          <p:cNvSpPr txBox="1"/>
          <p:nvPr/>
        </p:nvSpPr>
        <p:spPr>
          <a:xfrm>
            <a:off x="6694170" y="9563100"/>
            <a:ext cx="67608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 (Daimler)| Project : cobots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871403" y="1333500"/>
            <a:ext cx="844613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ACTIVITY IMPLEMENTATION STATUS</a:t>
            </a:r>
            <a:r>
              <a:rPr lang="en-IN" alt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-</a:t>
            </a:r>
            <a:r>
              <a:rPr 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DAIMLER</a:t>
            </a:r>
            <a:r>
              <a:rPr lang="en-US" altLang="en-IN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 LINE</a:t>
            </a:r>
            <a:endParaRPr lang="en-US" altLang="en-IN" sz="2400" b="1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3505200" y="2221230"/>
          <a:ext cx="10607675" cy="6819265"/>
        </p:xfrm>
        <a:graphic>
          <a:graphicData uri="http://schemas.openxmlformats.org/drawingml/2006/table">
            <a:tbl>
              <a:tblPr firstCol="1">
                <a:tableStyleId>{7DF18680-E054-41AD-8BC1-D1AEF772440D}</a:tableStyleId>
              </a:tblPr>
              <a:tblGrid>
                <a:gridCol w="2820670"/>
                <a:gridCol w="249555"/>
                <a:gridCol w="249555"/>
                <a:gridCol w="248285"/>
                <a:gridCol w="249555"/>
                <a:gridCol w="249555"/>
                <a:gridCol w="248920"/>
                <a:gridCol w="249555"/>
                <a:gridCol w="249555"/>
                <a:gridCol w="248920"/>
                <a:gridCol w="368935"/>
                <a:gridCol w="370205"/>
                <a:gridCol w="368935"/>
                <a:gridCol w="370205"/>
                <a:gridCol w="369570"/>
                <a:gridCol w="369570"/>
                <a:gridCol w="369570"/>
                <a:gridCol w="370205"/>
                <a:gridCol w="368935"/>
                <a:gridCol w="370205"/>
                <a:gridCol w="368300"/>
                <a:gridCol w="370205"/>
                <a:gridCol w="369570"/>
                <a:gridCol w="369570"/>
                <a:gridCol w="369570"/>
              </a:tblGrid>
              <a:tr h="589915">
                <a:tc gridSpan="25"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ATHER LINE ACTIVITY CHART</a:t>
                      </a:r>
                      <a:endParaRPr sz="1600"/>
                    </a:p>
                  </a:txBody>
                  <a:tcPr marL="9842" marR="9842" marT="9842" marB="0" anchor="ctr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3225"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Jul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Aug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Sep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Oct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Nov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sz="1600"/>
                        <a:t>Dec</a:t>
                      </a:r>
                      <a:endParaRPr sz="1600"/>
                    </a:p>
                  </a:txBody>
                  <a:tcPr marL="9842" marR="9842" marT="9842" marB="0" anchor="b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75615"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Week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3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4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5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6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7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8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9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10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11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12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13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14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15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16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17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18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19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20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21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22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23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600"/>
                        <a:t>24</a:t>
                      </a:r>
                      <a:endParaRPr sz="1600"/>
                    </a:p>
                  </a:txBody>
                  <a:tcPr marL="9842" marR="9842" marT="9842" marB="0" anchor="b"/>
                </a:tc>
              </a:tr>
              <a:tr h="728345"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Receipt of Purchase order / LOI 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Detailed layout , Drawing and BOQ submission for Approval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671195"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Manufacturing - Mechanical</a:t>
                      </a:r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68453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Manufacturing - Electrical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37465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Assembly - Mechanical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76454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Assembly - Electrical (including Panel interface)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59880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Internal Trials (no load test)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360680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FAT Test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  <a:tr h="403225">
                <a:tc>
                  <a:txBody>
                    <a:bodyPr/>
                    <a:lstStyle/>
                    <a:p>
                      <a:pPr algn="ctr" fontAlgn="ctr"/>
                      <a:r>
                        <a:rPr sz="1600"/>
                        <a:t>I&amp;C</a:t>
                      </a:r>
                      <a:endParaRPr sz="1600"/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600"/>
                        <a:t>x</a:t>
                      </a:r>
                      <a:endParaRPr sz="1600"/>
                    </a:p>
                  </a:txBody>
                  <a:tcPr marL="9842" marR="9842" marT="9842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sz="1600"/>
                    </a:p>
                  </a:txBody>
                  <a:tcPr marL="9842" marR="9842" marT="9842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 Box 13"/>
          <p:cNvSpPr txBox="1"/>
          <p:nvPr/>
        </p:nvSpPr>
        <p:spPr>
          <a:xfrm>
            <a:off x="6694170" y="9563100"/>
            <a:ext cx="67608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GB" sz="2800" b="1">
                <a:solidFill>
                  <a:schemeClr val="bg1"/>
                </a:solidFill>
              </a:rPr>
              <a:t>Plant : P-palayam (Daimler)| Project : cobots</a:t>
            </a:r>
            <a:endParaRPr lang="en-US" altLang="en-GB" sz="28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733666" y="283845"/>
            <a:ext cx="260731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400" b="1">
                <a:solidFill>
                  <a:schemeClr val="bg1"/>
                </a:solidFill>
                <a:latin typeface="Gill Sans MT" panose="020B0802020104020203" charset="0"/>
                <a:cs typeface="Gill Sans MT" panose="020B0802020104020203" charset="0"/>
                <a:sym typeface="+mn-ea"/>
              </a:rPr>
              <a:t>DAP APPROVAL</a:t>
            </a:r>
            <a:endParaRPr lang="en-US" sz="2400" b="1">
              <a:solidFill>
                <a:schemeClr val="bg1"/>
              </a:solidFill>
              <a:latin typeface="Gill Sans MT" panose="020B0802020104020203" charset="0"/>
              <a:cs typeface="Gill Sans MT" panose="020B0802020104020203" charset="0"/>
              <a:sym typeface="+mn-ea"/>
            </a:endParaRPr>
          </a:p>
        </p:txBody>
      </p:sp>
      <p:pic>
        <p:nvPicPr>
          <p:cNvPr id="3" name="Picture 2" descr="IMG-20260804-WA0000"/>
          <p:cNvPicPr>
            <a:picLocks noChangeAspect="1"/>
          </p:cNvPicPr>
          <p:nvPr/>
        </p:nvPicPr>
        <p:blipFill>
          <a:blip r:embed="rId2"/>
          <a:srcRect l="10581" t="17146" r="16294" b="8956"/>
          <a:stretch>
            <a:fillRect/>
          </a:stretch>
        </p:blipFill>
        <p:spPr>
          <a:xfrm rot="5400000">
            <a:off x="4991735" y="2019300"/>
            <a:ext cx="8582025" cy="65049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1"/>
            <a:stretch>
              <a:fillRect l="-18463" r="-17246" b="-609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438335" y="4270343"/>
            <a:ext cx="13541261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620"/>
              </a:lnSpc>
            </a:pPr>
            <a:r>
              <a:rPr lang="en-US" sz="15135" b="1" spc="-90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  <a:endParaRPr lang="en-US" sz="15135" b="1" spc="-907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21405</Words>
  <Application>WPS Presentation</Application>
  <PresentationFormat>Custom</PresentationFormat>
  <Paragraphs>3061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SimSun</vt:lpstr>
      <vt:lpstr>Wingdings</vt:lpstr>
      <vt:lpstr>Gill Sans MT</vt:lpstr>
      <vt:lpstr>Garet Bold</vt:lpstr>
      <vt:lpstr>Segoe Print</vt:lpstr>
      <vt:lpstr>Garet</vt:lpstr>
      <vt:lpstr>Open Sauce Medium</vt:lpstr>
      <vt:lpstr>Calibri</vt:lpstr>
      <vt:lpstr>Calibri</vt:lpstr>
      <vt:lpstr>Aptos Narrow</vt:lpstr>
      <vt:lpstr>Arial</vt:lpstr>
      <vt:lpstr>Open Sauce Bold</vt:lpstr>
      <vt:lpstr>Cambria</vt:lpstr>
      <vt:lpstr>Gill Sans MT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Blue and White Modern Startup Pitch Deck Presentation</dc:title>
  <dc:creator/>
  <cp:lastModifiedBy>n.durgadevi</cp:lastModifiedBy>
  <cp:revision>81</cp:revision>
  <dcterms:created xsi:type="dcterms:W3CDTF">2006-08-16T00:00:00Z</dcterms:created>
  <dcterms:modified xsi:type="dcterms:W3CDTF">2026-09-04T05:45:36Z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2057-11.2.0.10017</vt:lpwstr>
  </property>
  <property fmtid="{D5CDD505-2E9C-101B-9397-08002B2CF9AE}" pid="3" name="ICV">
    <vt:lpwstr>64271CAA210B42CBB4CCC5502407A955</vt:lpwstr>
  </property>
</Properties>
</file>